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8346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777240"/>
            <a:ext cx="11057839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FFFFFF"/>
                </a:solidFill>
                <a:latin typeface="Calibri"/>
              </a:rPr>
              <a:t>JSW ENERGY LIMITED</a:t>
            </a:r>
          </a:p>
          <a:p>
            <a:r>
              <a:rPr sz="2200" i="1">
                <a:solidFill>
                  <a:srgbClr val="AFC8EA"/>
                </a:solidFill>
                <a:latin typeface="Calibri"/>
              </a:rPr>
              <a:t>A thermal balance sheet funding a renewable company</a:t>
            </a:r>
          </a:p>
          <a:p>
            <a:r>
              <a:rPr sz="1400">
                <a:solidFill>
                  <a:srgbClr val="AFC8EA"/>
                </a:solidFill>
                <a:latin typeface="Calibri"/>
              </a:rPr>
              <a:t>Institutional research note  |  July 2026  |  NSE: JSWENERGY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3246120"/>
            <a:ext cx="2651760" cy="1298448"/>
          </a:xfrm>
          <a:prstGeom prst="round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/>
            <a:r>
              <a:rPr sz="1100">
                <a:solidFill>
                  <a:srgbClr val="52514E"/>
                </a:solidFill>
                <a:latin typeface="Calibri"/>
              </a:rPr>
              <a:t>Rating</a:t>
            </a:r>
          </a:p>
          <a:p>
            <a:r>
              <a:rPr sz="2600" b="1">
                <a:solidFill>
                  <a:srgbClr val="1F3864"/>
                </a:solidFill>
                <a:latin typeface="Calibri"/>
              </a:rPr>
              <a:t>HOLD</a:t>
            </a:r>
          </a:p>
          <a:p>
            <a:r>
              <a:rPr sz="1000">
                <a:solidFill>
                  <a:srgbClr val="52514E"/>
                </a:solidFill>
                <a:latin typeface="Calibri"/>
              </a:rPr>
              <a:t>derived from the scenario table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01568" y="3246120"/>
            <a:ext cx="2651760" cy="1298448"/>
          </a:xfrm>
          <a:prstGeom prst="round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/>
            <a:r>
              <a:rPr sz="1100">
                <a:solidFill>
                  <a:srgbClr val="52514E"/>
                </a:solidFill>
                <a:latin typeface="Calibri"/>
              </a:rPr>
              <a:t>CMP (17 Jul 2026)</a:t>
            </a:r>
          </a:p>
          <a:p>
            <a:r>
              <a:rPr sz="2600" b="1">
                <a:solidFill>
                  <a:srgbClr val="0B0B0B"/>
                </a:solidFill>
                <a:latin typeface="Calibri"/>
              </a:rPr>
              <a:t>Rs.561</a:t>
            </a:r>
          </a:p>
          <a:p>
            <a:r>
              <a:rPr sz="1000">
                <a:solidFill>
                  <a:srgbClr val="52514E"/>
                </a:solidFill>
                <a:latin typeface="Calibri"/>
              </a:rPr>
              <a:t>Mkt cap Rs.98,584cr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36208" y="3246120"/>
            <a:ext cx="2651760" cy="1298448"/>
          </a:xfrm>
          <a:prstGeom prst="round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/>
            <a:r>
              <a:rPr sz="1100">
                <a:solidFill>
                  <a:srgbClr val="52514E"/>
                </a:solidFill>
                <a:latin typeface="Calibri"/>
              </a:rPr>
              <a:t>Base target price</a:t>
            </a:r>
          </a:p>
          <a:p>
            <a:r>
              <a:rPr sz="2600" b="1">
                <a:solidFill>
                  <a:srgbClr val="1F3864"/>
                </a:solidFill>
                <a:latin typeface="Calibri"/>
              </a:rPr>
              <a:t>Rs.625</a:t>
            </a:r>
          </a:p>
          <a:p>
            <a:r>
              <a:rPr sz="1000">
                <a:solidFill>
                  <a:srgbClr val="52514E"/>
                </a:solidFill>
                <a:latin typeface="Calibri"/>
              </a:rPr>
              <a:t>11.9x FY28E EV/EBITDA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70848" y="3246120"/>
            <a:ext cx="2651760" cy="1298448"/>
          </a:xfrm>
          <a:prstGeom prst="round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/>
            <a:r>
              <a:rPr sz="1100">
                <a:solidFill>
                  <a:srgbClr val="52514E"/>
                </a:solidFill>
                <a:latin typeface="Calibri"/>
              </a:rPr>
              <a:t>Upside</a:t>
            </a:r>
          </a:p>
          <a:p>
            <a:r>
              <a:rPr sz="2600" b="1">
                <a:solidFill>
                  <a:srgbClr val="EB6834"/>
                </a:solidFill>
                <a:latin typeface="Calibri"/>
              </a:rPr>
              <a:t>+11.4%</a:t>
            </a:r>
          </a:p>
          <a:p>
            <a:r>
              <a:rPr sz="1000">
                <a:solidFill>
                  <a:srgbClr val="52514E"/>
                </a:solidFill>
                <a:latin typeface="Calibri"/>
              </a:rPr>
              <a:t>bear Rs.286 / bull Rs.839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800600"/>
            <a:ext cx="1105783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B0B0B"/>
                </a:solidFill>
                <a:latin typeface="Calibri"/>
              </a:rPr>
              <a:t>The build is real: 13,454MW at FY26A to 25,905MW by FY30E, EBITDA Rs.10,064cr to Rs.23,536cr. The equity is not. Net debt of Rs.75,038cr at FY27E-end is 4.7x FY28E EBITDA, so the equity is 29% of enterprise value and every 1.0x of EV/EBITDA is worth Rs.87 per share — 15.5% of the price. Reversion to the 16-year mean multiple of 9.0x is Rs.373.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880"/>
                </a:solidFill>
                <a:latin typeface="Calibri"/>
              </a:rPr>
              <a:t>Estimates: attached analyst model, used as given. Primary sources: FY26 annual report, Q4FY26 and Q1FY27 calls. Market data 17 July 2026. Strictly Confidential — internal circulation only.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  <a:latin typeface="Calibri"/>
              </a:rPr>
              <a:t>Company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59536"/>
            <a:ext cx="11057839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B6834"/>
                </a:solidFill>
                <a:latin typeface="Calibri"/>
              </a:rPr>
              <a:t>India's fifth-largest private generator, mid-transformation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4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00200"/>
            <a:ext cx="11057839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50" b="1">
                <a:solidFill>
                  <a:srgbClr val="1F3864"/>
                </a:solidFill>
                <a:latin typeface="Calibri"/>
              </a:rPr>
              <a:t>▪  What it is.  </a:t>
            </a:r>
            <a:r>
              <a:rPr sz="1550">
                <a:solidFill>
                  <a:srgbClr val="0B0B0B"/>
                </a:solidFill>
                <a:latin typeface="Calibri"/>
              </a:rPr>
              <a:t>5,658MW thermal, 1,631MW hydro and 6,165MW renewables — 13.45GW at FY26A and 14.6GW after Q1FY27, 61% renewable. A further 14GW is under construction, all tied under long-term PPAs; locked-in capacity is 32.1GW against a 30GW-by-2030 target.</a:t>
            </a:r>
          </a:p>
          <a:p>
            <a:pPr>
              <a:spcAft>
                <a:spcPts val="1300"/>
              </a:spcAft>
            </a:pPr>
            <a:r>
              <a:rPr sz="1550" b="1">
                <a:solidFill>
                  <a:srgbClr val="1F3864"/>
                </a:solidFill>
                <a:latin typeface="Calibri"/>
              </a:rPr>
              <a:t>▪  How it grew.  </a:t>
            </a:r>
            <a:r>
              <a:rPr sz="1550">
                <a:solidFill>
                  <a:srgbClr val="0B0B0B"/>
                </a:solidFill>
                <a:latin typeface="Calibri"/>
              </a:rPr>
              <a:t>Almost entirely by acquisition: Mytrah (1,753MW, FY23), Ind-Barath (700MW, FY24–25), KSK Mahanadi (1,800MW via NCLT, FY25), O2 Power (4.7GW, Rs.12,468cr EV, FY26). No proprietary technology.</a:t>
            </a:r>
          </a:p>
          <a:p>
            <a:pPr>
              <a:spcAft>
                <a:spcPts val="1300"/>
              </a:spcAft>
            </a:pPr>
            <a:r>
              <a:rPr sz="1550" b="1">
                <a:solidFill>
                  <a:srgbClr val="1F3864"/>
                </a:solidFill>
                <a:latin typeface="Calibri"/>
              </a:rPr>
              <a:t>▪  FY26A was the step-change.  </a:t>
            </a:r>
            <a:r>
              <a:rPr sz="1550">
                <a:solidFill>
                  <a:srgbClr val="0B0B0B"/>
                </a:solidFill>
                <a:latin typeface="Calibri"/>
              </a:rPr>
              <a:t>Revenue +61% to Rs.18,901cr, EBITDA +93% to Rs.10,064cr — almost entirely first-time consolidation of KSK and O2. Reported PAT rose only 15%, and only because of a Rs.777cr net tax credit.</a:t>
            </a:r>
          </a:p>
          <a:p>
            <a:pPr>
              <a:spcAft>
                <a:spcPts val="1300"/>
              </a:spcAft>
            </a:pPr>
            <a:r>
              <a:rPr sz="1550" b="1">
                <a:solidFill>
                  <a:srgbClr val="1F3864"/>
                </a:solidFill>
                <a:latin typeface="Calibri"/>
              </a:rPr>
              <a:t>▪  What it cost.  </a:t>
            </a:r>
            <a:r>
              <a:rPr sz="1550">
                <a:solidFill>
                  <a:srgbClr val="0B0B0B"/>
                </a:solidFill>
                <a:latin typeface="Calibri"/>
              </a:rPr>
              <a:t>Net debt rose Rs.25,155cr in FY26A alone, to Rs.70,081cr. Leverage 7.0x on the model's measure, 5.2x on the company's (ex-CWIP debt); interest cover 1.70x.</a:t>
            </a:r>
          </a:p>
          <a:p>
            <a:pPr>
              <a:spcAft>
                <a:spcPts val="1300"/>
              </a:spcAft>
            </a:pPr>
            <a:r>
              <a:rPr sz="1550" b="1">
                <a:solidFill>
                  <a:srgbClr val="1F3864"/>
                </a:solidFill>
                <a:latin typeface="Calibri"/>
              </a:rPr>
              <a:t>▪  The funding is done.  </a:t>
            </a:r>
            <a:r>
              <a:rPr sz="1550">
                <a:solidFill>
                  <a:srgbClr val="0B0B0B"/>
                </a:solidFill>
                <a:latin typeface="Calibri"/>
              </a:rPr>
              <a:t>Rs.10,150cr raised across FY26 and Q1FY27 — Rs.3,000cr promoter preferential, Rs.3,150cr from the JSW Steel stake, Rs.4,000cr QIP. Leverage improved to 4.95x, inside the 5.0–5.5x guardrail. Cash Rs.12,881cr.</a:t>
            </a:r>
          </a:p>
          <a:p>
            <a:pPr>
              <a:spcAft>
                <a:spcPts val="1300"/>
              </a:spcAft>
            </a:pPr>
            <a:r>
              <a:rPr sz="1550" b="1">
                <a:solidFill>
                  <a:srgbClr val="1F3864"/>
                </a:solidFill>
                <a:latin typeface="Calibri"/>
              </a:rPr>
              <a:t>▪  Where it trades.  </a:t>
            </a:r>
            <a:r>
              <a:rPr sz="1550">
                <a:solidFill>
                  <a:srgbClr val="0B0B0B"/>
                </a:solidFill>
                <a:latin typeface="Calibri"/>
              </a:rPr>
              <a:t>11.2x FY28E EV/EBITDA, 3.2x FY26A book. Its own 12-month forward multiple has averaged 9.0x since 2010 and sits at 13.9x today.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880"/>
                </a:solidFill>
                <a:latin typeface="Calibri"/>
              </a:rPr>
              <a:t>Source: analyst model.  Strictly Confidential — internal circulation only. Not investment advice.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  <a:latin typeface="Calibri"/>
              </a:rPr>
              <a:t>Corporate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59536"/>
            <a:ext cx="11057839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B6834"/>
                </a:solidFill>
                <a:latin typeface="Calibri"/>
              </a:rPr>
              <a:t>The listed entity produced 18% of FY26A segment EBITDA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4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x7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81328"/>
            <a:ext cx="7772400" cy="41270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58200" y="1600200"/>
            <a:ext cx="320040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150">
                <a:solidFill>
                  <a:srgbClr val="0B0B0B"/>
                </a:solidFill>
                <a:latin typeface="Calibri"/>
              </a:rPr>
              <a:t>▪  The listed parent owns three old thermal plants (2,078MW).</a:t>
            </a:r>
          </a:p>
          <a:p>
            <a:pPr>
              <a:spcAft>
                <a:spcPts val="1000"/>
              </a:spcAft>
            </a:pPr>
            <a:r>
              <a:rPr sz="1150">
                <a:solidFill>
                  <a:srgbClr val="0B0B0B"/>
                </a:solidFill>
                <a:latin typeface="Calibri"/>
              </a:rPr>
              <a:t>▪  The entire renewable build sits two levels down, inside JSW Neo Energy.</a:t>
            </a:r>
          </a:p>
          <a:p>
            <a:pPr>
              <a:spcAft>
                <a:spcPts val="1000"/>
              </a:spcAft>
            </a:pPr>
            <a:r>
              <a:rPr sz="1150">
                <a:solidFill>
                  <a:srgbClr val="0B0B0B"/>
                </a:solidFill>
                <a:latin typeface="Calibri"/>
              </a:rPr>
              <a:t>▪  KSK Mahanadi — the largest single EBITDA contributor in FY26A at Rs.3,343cr — is 74% owned, and the call option on the balance 26% has been served.</a:t>
            </a:r>
          </a:p>
          <a:p>
            <a:pPr>
              <a:spcAft>
                <a:spcPts val="1000"/>
              </a:spcAft>
            </a:pPr>
            <a:r>
              <a:rPr sz="1150">
                <a:solidFill>
                  <a:srgbClr val="0B0B0B"/>
                </a:solidFill>
                <a:latin typeface="Calibri"/>
              </a:rPr>
              <a:t>▪  Capital sinks: 'Others' lost Rs.642cr of EBITDA in FY26A. The 1GW solar module plant is on hold; SECI BESS-1 (500MW) is in dispute with no impairment taken.</a:t>
            </a:r>
          </a:p>
          <a:p>
            <a:pPr>
              <a:spcAft>
                <a:spcPts val="1000"/>
              </a:spcAft>
            </a:pPr>
            <a:r>
              <a:rPr sz="1150">
                <a:solidFill>
                  <a:srgbClr val="0B0B0B"/>
                </a:solidFill>
                <a:latin typeface="Calibri"/>
              </a:rPr>
              <a:t>▪  Entity-level PAT is not disclosed by the company and is not in the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880"/>
                </a:solidFill>
                <a:latin typeface="Calibri"/>
              </a:rPr>
              <a:t>Source: FY26 Integrated Annual Report (AOC-1), Q4FY26 and Q1FY27 calls, analyst model.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  <a:latin typeface="Calibri"/>
              </a:rPr>
              <a:t>Six business cycles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59536"/>
            <a:ext cx="11057839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B6834"/>
                </a:solidFill>
                <a:latin typeface="Calibri"/>
              </a:rPr>
              <a:t>Every previous growth cycle ended on a lower return on capital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4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691640"/>
          <a:ext cx="11057835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3154"/>
                <a:gridCol w="1620545"/>
                <a:gridCol w="1334566"/>
                <a:gridCol w="1429892"/>
                <a:gridCol w="1048588"/>
                <a:gridCol w="324109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Revenue (Rs.cr)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EBITDA margin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Net debt/EBITDA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ROCE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What happened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1. FY05–08  Captive merchant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491 → 1,574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44% → 74%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2.9x → 1.7x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7% → 29%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Vijayanagar only; peak merchant tariffs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2. FY09–13  First build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1,591 → 8,934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18% → 31%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20.0x → 3.6x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2% → 9%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Ratnagiri + Barmer; debt to Rs.10,377cr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3. FY14–19  Stagnation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8,705 → 9,138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37% → 31%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2.9x → 3.6x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8% → 7%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No new capacity; Vijayanagar PLF 95% → 50%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4. FY20–22  Deleveraging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8,273 → 8,167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36% → 44%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3.3x → 2.2x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9% → 7%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Cleanest balance sheet in a decade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5. FY23–26A  Re-levering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10,332 → 18,901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32% → 53%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6.3x → 7.0x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4% → 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Four acquisitions; net debt up 3.4x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6. FY27E–30E  Renewables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26,535 → 39,506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49% → 60%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6.1x → 4.9x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6% → 9%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12,451MW built; first cycle ROCE rises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892040"/>
            <a:ext cx="11057839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0B0B0B"/>
                </a:solidFill>
                <a:latin typeface="Calibri"/>
              </a:rPr>
              <a:t>▪  ROCE was 29% in FY08, 9% in FY13, 7% in FY22 and 6.4% in FY26A. The model has it reaching 8.8% by FY30E — still below the 10% WACC in the model's own DCF.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880"/>
                </a:solidFill>
                <a:latin typeface="Calibri"/>
              </a:rPr>
              <a:t>Source: analyst model.  Strictly Confidential — internal circulation only. Not investment advice.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  <a:latin typeface="Calibri"/>
              </a:rPr>
              <a:t>Segments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59536"/>
            <a:ext cx="11057839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B6834"/>
                </a:solidFill>
                <a:latin typeface="Calibri"/>
              </a:rPr>
              <a:t>Renewables go from 40% of EBITDA to 71% by FY30E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4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x2_segment_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766560" cy="3948973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98079" y="1691640"/>
          <a:ext cx="416052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6840"/>
                <a:gridCol w="693420"/>
                <a:gridCol w="693420"/>
                <a:gridCol w="693420"/>
                <a:gridCol w="693420"/>
              </a:tblGrid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Revenue (Rs.cr)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FY25A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FY26A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FY27E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FY28E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Total Thermal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8,214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13,395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16,788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17,199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Hydro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1,145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1,112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1,707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1,701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Renewables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2,434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4,701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7,133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10,281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0B0B"/>
                          </a:solidFill>
                          <a:latin typeface="Calibri"/>
                        </a:rPr>
                        <a:t>Consolidated revenue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0B0B0B"/>
                          </a:solidFill>
                          <a:latin typeface="Calibri"/>
                        </a:rPr>
                        <a:t>11,745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0B0B0B"/>
                          </a:solidFill>
                          <a:latin typeface="Calibri"/>
                        </a:rPr>
                        <a:t>18,901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0B0B0B"/>
                          </a:solidFill>
                          <a:latin typeface="Calibri"/>
                        </a:rPr>
                        <a:t>26,535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0B0B0B"/>
                          </a:solidFill>
                          <a:latin typeface="Calibri"/>
                        </a:rPr>
                        <a:t>30,359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3977639"/>
            <a:ext cx="41605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0B0B0B"/>
                </a:solidFill>
                <a:latin typeface="Calibri"/>
              </a:rPr>
              <a:t>▪  Thermal is fully built — growth is realisation, not volume.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B0B0B"/>
                </a:solidFill>
                <a:latin typeface="Calibri"/>
              </a:rPr>
              <a:t>▪  Hydro converted 97% of revenue to EBITDA in FY26A. No new capacity planned.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B0B0B"/>
                </a:solidFill>
                <a:latin typeface="Calibri"/>
              </a:rPr>
              <a:t>▪  Renewables converted 85% vs 49% for thermal — the mix is the margin story.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0B0B0B"/>
                </a:solidFill>
                <a:latin typeface="Calibri"/>
              </a:rPr>
              <a:t>▪  The model does not carry segment revenue beyond FY28E.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880"/>
                </a:solidFill>
                <a:latin typeface="Calibri"/>
              </a:rPr>
              <a:t>Source: analyst model.  Strictly Confidential — internal circulation only. Not investment advice.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  <a:latin typeface="Calibri"/>
              </a:rPr>
              <a:t>Business model and where the moat sits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59536"/>
            <a:ext cx="11057839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B6834"/>
                </a:solidFill>
                <a:latin typeface="Calibri"/>
              </a:rPr>
              <a:t>Contracts and cost of capital — not technology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4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00200"/>
            <a:ext cx="11057839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▪  Contractual.  </a:t>
            </a:r>
            <a:r>
              <a:rPr sz="1500">
                <a:solidFill>
                  <a:srgbClr val="0B0B0B"/>
                </a:solidFill>
                <a:latin typeface="Calibri"/>
              </a:rPr>
              <a:t>25–40 year PPAs with SECI, NTPC, state discoms; a regulated 15% RoE at Barmer; 14% regulated RoE at Jaigad Transco.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▪  Site and connectivity.  </a:t>
            </a:r>
            <a:r>
              <a:rPr sz="1500">
                <a:solidFill>
                  <a:srgbClr val="0B0B0B"/>
                </a:solidFill>
                <a:latin typeface="Calibri"/>
              </a:rPr>
              <a:t>Land at scale and grid evacuation are the binding constraint on Indian renewable build — years to assemble.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▪  Group offtake.  </a:t>
            </a:r>
            <a:r>
              <a:rPr sz="1500">
                <a:solidFill>
                  <a:srgbClr val="0B0B0B"/>
                </a:solidFill>
                <a:latin typeface="Calibri"/>
              </a:rPr>
              <a:t>~1,730MW sold to JSW Steel, Cement and Paints. A sticky customer base and a related-party concentration at the same time.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▪  Cost of capital.  </a:t>
            </a:r>
            <a:r>
              <a:rPr sz="1500">
                <a:solidFill>
                  <a:srgbClr val="0B0B0B"/>
                </a:solidFill>
                <a:latin typeface="Calibri"/>
              </a:rPr>
              <a:t>In a reverse auction everyone buys the same panels. The cheapest funder wins. AA rating helps; 2.3x net debt/equity does not.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▪  What there is not.  </a:t>
            </a:r>
            <a:r>
              <a:rPr sz="1500">
                <a:solidFill>
                  <a:srgbClr val="0B0B0B"/>
                </a:solidFill>
                <a:latin typeface="Calibri"/>
              </a:rPr>
              <a:t>No technology, no IP, no pricing power. This is an assets-and-contracts business.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▪  Capital intensity is the defining feature.  </a:t>
            </a:r>
            <a:r>
              <a:rPr sz="1500">
                <a:solidFill>
                  <a:srgbClr val="0B0B0B"/>
                </a:solidFill>
                <a:latin typeface="Calibri"/>
              </a:rPr>
              <a:t>Rs.88,885cr gross block on Rs.18,901cr revenue — a 0.25x asset turn, falling to 0.24x by FY30E. Rs.70,428cr of cumulative FY27E–FY30E operating cash flow does not cover Rs.89,565cr of capex, let alone Rs.33,098cr of interest.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880"/>
                </a:solidFill>
                <a:latin typeface="Calibri"/>
              </a:rPr>
              <a:t>Source: analyst model.  Strictly Confidential — internal circulation only. Not investment advice.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  <a:latin typeface="Calibri"/>
              </a:rPr>
              <a:t>Capacity and capex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59536"/>
            <a:ext cx="11057839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B6834"/>
                </a:solidFill>
                <a:latin typeface="Calibri"/>
              </a:rPr>
              <a:t>12,451MW to build in four years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4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x3_capa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949440" cy="3960734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635240" y="1691640"/>
          <a:ext cx="4023356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531"/>
                <a:gridCol w="574765"/>
                <a:gridCol w="574765"/>
                <a:gridCol w="574765"/>
                <a:gridCol w="574765"/>
                <a:gridCol w="574765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FY26A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FY27E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FY28E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FY29E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FY30E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Capacity (MW)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13,454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16,609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19,996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22,796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25,905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Added in year (MW)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2,579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2,800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3,109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Storage (MW)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875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875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2,375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Capex (Rs.cr)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10,112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21,229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21,864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21,656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24,816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Capex per MW (Rs.cr)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3.9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6.7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6.5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0B0B0B"/>
                          </a:solidFill>
                          <a:latin typeface="Calibri"/>
                        </a:rPr>
                        <a:t>8.0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35240" y="3886200"/>
            <a:ext cx="40233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>
                <a:solidFill>
                  <a:srgbClr val="0B0B0B"/>
                </a:solidFill>
                <a:latin typeface="Calibri"/>
              </a:rPr>
              <a:t>▪  Kutehr hydro: original CoD Sep-2024, commissioned FY26 — 18 months late.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0B0B0B"/>
                </a:solidFill>
                <a:latin typeface="Calibri"/>
              </a:rPr>
              <a:t>▪  Hetero wind 125MW: CoD 31-Mar-2023 in the tracker, still under construction.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0B0B0B"/>
                </a:solidFill>
                <a:latin typeface="Calibri"/>
              </a:rPr>
              <a:t>▪  SECI BESS-1 500MW: LoA Jul-2022, in dispute, no impairment taken.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0B0B0B"/>
                </a:solidFill>
                <a:latin typeface="Calibri"/>
              </a:rPr>
              <a:t>▪  Salboni 1,600MW thermal is under construction but is NOT in the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880"/>
                </a:solidFill>
                <a:latin typeface="Calibri"/>
              </a:rPr>
              <a:t>Source: analyst model.  Strictly Confidential — internal circulation only. Not investment advice.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  <a:latin typeface="Calibri"/>
              </a:rPr>
              <a:t>Industry and growth drivers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59536"/>
            <a:ext cx="11057839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B6834"/>
                </a:solidFill>
                <a:latin typeface="Calibri"/>
              </a:rPr>
              <a:t>Fast supply, slow demand — the tension in the story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4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00200"/>
            <a:ext cx="11057839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▪  Where India is.  </a:t>
            </a:r>
            <a:r>
              <a:rPr sz="1500">
                <a:solidFill>
                  <a:srgbClr val="0B0B0B"/>
                </a:solidFill>
                <a:latin typeface="Calibri"/>
              </a:rPr>
              <a:t>533GW installed at Mar-2026; 283.5GW non-fossil (53%), including 274.7GW renewables. JSW Energy is ~2.7% of national capacity.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▪  Visible now — renewable share gain.  </a:t>
            </a:r>
            <a:r>
              <a:rPr sz="1500">
                <a:solidFill>
                  <a:srgbClr val="0B0B0B"/>
                </a:solidFill>
                <a:latin typeface="Calibri"/>
              </a:rPr>
              <a:t>Solar generation +24% and wind +11% year-on-year in Q4FY26, against total generation growth of just 3%.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▪  Visible now — the policy mandate.  </a:t>
            </a:r>
            <a:r>
              <a:rPr sz="1500">
                <a:solidFill>
                  <a:srgbClr val="0B0B0B"/>
                </a:solidFill>
                <a:latin typeface="Calibri"/>
              </a:rPr>
              <a:t>500GW of non-fossil by 2030 requires ~54GW of additions a year. The SECI/NTPC/state tender pipeline is the mechanism.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▪  Prospective — the storage premium.  </a:t>
            </a:r>
            <a:r>
              <a:rPr sz="1500">
                <a:solidFill>
                  <a:srgbClr val="0B0B0B"/>
                </a:solidFill>
                <a:latin typeface="Calibri"/>
              </a:rPr>
              <a:t>FDRE, hybrid and RTC tenders price above plain solar. JSW moves from 451MW of hybrid to 4,798MW plus 3,000MW BESS and 3,300MW of pumped storage.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1F3864"/>
                </a:solidFill>
                <a:latin typeface="Calibri"/>
              </a:rPr>
              <a:t>▪  The tension.  </a:t>
            </a:r>
            <a:r>
              <a:rPr sz="1500">
                <a:solidFill>
                  <a:srgbClr val="0B0B0B"/>
                </a:solidFill>
                <a:latin typeface="Calibri"/>
              </a:rPr>
              <a:t>Q4FY26 generation growth of 3% was the slowest in six years while renewable capacity kept compounding. Flat demand plus fast supply is the classic setup for curtailment and merchant tariff compression.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880"/>
                </a:solidFill>
                <a:latin typeface="Calibri"/>
              </a:rPr>
              <a:t>Source: CEA / MNRE / PIB releases and press reports, July 2026; analyst model.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  <a:latin typeface="Calibri"/>
              </a:rPr>
              <a:t>Competitive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59536"/>
            <a:ext cx="11057839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B6834"/>
                </a:solidFill>
                <a:latin typeface="Calibri"/>
              </a:rPr>
              <a:t>Cheap capital is the moat — and it is getting more expensive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4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737360"/>
          <a:ext cx="11057836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1567"/>
                <a:gridCol w="1796898"/>
                <a:gridCol w="1520452"/>
                <a:gridCol w="5528919"/>
              </a:tblGrid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Peer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EV/EBITDA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Comment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B0B0B"/>
                          </a:solidFill>
                          <a:latin typeface="Calibri"/>
                        </a:rPr>
                        <a:t>JSW Energy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B0B0B"/>
                          </a:solidFill>
                          <a:latin typeface="Calibri"/>
                        </a:rPr>
                        <a:t>11.2x FY28E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B0B0B"/>
                          </a:solidFill>
                          <a:latin typeface="Calibri"/>
                        </a:rPr>
                        <a:t>44.0x FY26A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0B0B0B"/>
                          </a:solidFill>
                          <a:latin typeface="Calibri"/>
                        </a:rPr>
                        <a:t>13.5GW; 2.3x net debt/equity; ROCE 6.4%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NTPC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~11.0x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~12.8x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~80GW+, sovereign, regulated RoE — the floor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Tata Power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~13.8x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~33.4x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Closest structural comparable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Adani Power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~24.4x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Largest listed private thermal by mkt cap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Adani Green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&gt;17x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&gt;50x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0B0B0B"/>
                          </a:solidFill>
                          <a:latin typeface="Calibri"/>
                        </a:rPr>
                        <a:t>Pure-play RE — the implicit SOTP anchor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4114800"/>
            <a:ext cx="1105783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>
                <a:solidFill>
                  <a:srgbClr val="0B0B0B"/>
                </a:solidFill>
                <a:latin typeface="Calibri"/>
              </a:rPr>
              <a:t>▪  JSW's ROCE averaged 5.4% over FY23A–FY26A. NTPC on a regulated base and Tata Power on an integrated model both run materially higher.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0B0B0B"/>
                </a:solidFill>
                <a:latin typeface="Calibri"/>
              </a:rPr>
              <a:t>▪  A 60% EBITDA margin on a 0.24x asset turn is how a business looks highly profitable on the income statement and mediocre on capital.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0B0B0B"/>
                </a:solidFill>
                <a:latin typeface="Calibri"/>
              </a:rPr>
              <a:t>▪  Peer multiples are trailing secondary-source figures, not reconciled to audited accounts. Like-for-like peer growth, margin and ROCE were not obtainable — a gap.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880"/>
                </a:solidFill>
                <a:latin typeface="Calibri"/>
              </a:rPr>
              <a:t>Source: analyst model.  Strictly Confidential — internal circulation only. Not investment advice.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  <a:latin typeface="Calibri"/>
              </a:rPr>
              <a:t>Investment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59536"/>
            <a:ext cx="11057839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B6834"/>
                </a:solidFill>
                <a:latin typeface="Calibri"/>
              </a:rPr>
              <a:t>The market is right about the EBITDA and wrong about who owns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4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00200"/>
            <a:ext cx="11057839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50" b="1">
                <a:solidFill>
                  <a:srgbClr val="1F3864"/>
                </a:solidFill>
                <a:latin typeface="Calibri"/>
              </a:rPr>
              <a:t>▪  Variant perception.  </a:t>
            </a:r>
            <a:r>
              <a:rPr sz="1450">
                <a:solidFill>
                  <a:srgbClr val="0B0B0B"/>
                </a:solidFill>
                <a:latin typeface="Calibri"/>
              </a:rPr>
              <a:t>The market treats JSW Energy as a renewable compounder deserving a growth multiple. The EBITDA does more than double. But 92% of that growth is debt-funded renewable capacity, and the equity is 29% of enterprise value — so the price is a geared bet on the exit multiple.</a:t>
            </a:r>
          </a:p>
          <a:p>
            <a:pPr>
              <a:spcAft>
                <a:spcPts val="1200"/>
              </a:spcAft>
            </a:pPr>
            <a:r>
              <a:rPr sz="1450" b="1">
                <a:solidFill>
                  <a:srgbClr val="1F3864"/>
                </a:solidFill>
                <a:latin typeface="Calibri"/>
              </a:rPr>
              <a:t>▪  1. The build is real and checkable.  </a:t>
            </a:r>
            <a:r>
              <a:rPr sz="1450">
                <a:solidFill>
                  <a:srgbClr val="0B0B0B"/>
                </a:solidFill>
                <a:latin typeface="Calibri"/>
              </a:rPr>
              <a:t>13,454MW to 25,905MW; EBITDA Rs.10,064cr to Rs.23,536cr, a 24% CAGR. 2,579MW came in FY26A, 1,081MW since April 2026 against a 3,155MW FY27E requirement.</a:t>
            </a:r>
          </a:p>
          <a:p>
            <a:pPr>
              <a:spcAft>
                <a:spcPts val="1200"/>
              </a:spcAft>
            </a:pPr>
            <a:r>
              <a:rPr sz="1450" b="1">
                <a:solidFill>
                  <a:srgbClr val="1F3864"/>
                </a:solidFill>
                <a:latin typeface="Calibri"/>
              </a:rPr>
              <a:t>▪  2. The margin expansion is mechanical.  </a:t>
            </a:r>
            <a:r>
              <a:rPr sz="1450">
                <a:solidFill>
                  <a:srgbClr val="0B0B0B"/>
                </a:solidFill>
                <a:latin typeface="Calibri"/>
              </a:rPr>
              <a:t>Renewables convert 85% of revenue to EBITDA vs 49% for thermal. Consolidated margin 53.2% → 59.6% on mix alone. Fuel falls from 29.5% of revenue to 25.5%.</a:t>
            </a:r>
          </a:p>
          <a:p>
            <a:pPr>
              <a:spcAft>
                <a:spcPts val="1200"/>
              </a:spcAft>
            </a:pPr>
            <a:r>
              <a:rPr sz="1450" b="1">
                <a:solidFill>
                  <a:srgbClr val="1F3864"/>
                </a:solidFill>
                <a:latin typeface="Calibri"/>
              </a:rPr>
              <a:t>▪  3. But the equity is a thin, geared claim.  </a:t>
            </a:r>
            <a:r>
              <a:rPr sz="1450">
                <a:solidFill>
                  <a:srgbClr val="0B0B0B"/>
                </a:solidFill>
                <a:latin typeface="Calibri"/>
              </a:rPr>
              <a:t>Net debt Rs.75,038cr at FY27E-end = 4.7x FY28E EBITDA. Each 1.0x of multiple = Rs.87/share = 15.5% of the price. 9.0x gives Rs.373; 11.9x gives Rs.625.</a:t>
            </a:r>
          </a:p>
          <a:p>
            <a:pPr>
              <a:spcAft>
                <a:spcPts val="1200"/>
              </a:spcAft>
            </a:pPr>
            <a:r>
              <a:rPr sz="1450" b="1">
                <a:solidFill>
                  <a:srgbClr val="1F3864"/>
                </a:solidFill>
                <a:latin typeface="Calibri"/>
              </a:rPr>
              <a:t>▪  4. And returns still do not clear the cost of capital.  </a:t>
            </a:r>
            <a:r>
              <a:rPr sz="1450">
                <a:solidFill>
                  <a:srgbClr val="0B0B0B"/>
                </a:solidFill>
                <a:latin typeface="Calibri"/>
              </a:rPr>
              <a:t>ROCE 6.4% FY26A → 8.8% FY30E, against the 10% WACC in the model's own DCF.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880"/>
                </a:solidFill>
                <a:latin typeface="Calibri"/>
              </a:rPr>
              <a:t>Source: analyst model.  Strictly Confidential — internal circulation only. Not investment advice.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  <a:latin typeface="Calibri"/>
              </a:rPr>
              <a:t>Financial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59536"/>
            <a:ext cx="11057839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B6834"/>
                </a:solidFill>
                <a:latin typeface="Calibri"/>
              </a:rPr>
              <a:t>FY26A doubled EBITDA; PAT grew 15% and only on a tax credit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4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691640"/>
          <a:ext cx="67665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7560"/>
                <a:gridCol w="939800"/>
                <a:gridCol w="939800"/>
                <a:gridCol w="939800"/>
                <a:gridCol w="939800"/>
                <a:gridCol w="939800"/>
              </a:tblGrid>
              <a:tr h="3241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Rs. cr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FY26A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FY27E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FY28E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FY29E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FY30E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B0B0B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0B0B0B"/>
                          </a:solidFill>
                          <a:latin typeface="Calibri"/>
                        </a:rPr>
                        <a:t>18,901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0B0B0B"/>
                          </a:solidFill>
                          <a:latin typeface="Calibri"/>
                        </a:rPr>
                        <a:t>26,535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0B0B0B"/>
                          </a:solidFill>
                          <a:latin typeface="Calibri"/>
                        </a:rPr>
                        <a:t>30,359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0B0B0B"/>
                          </a:solidFill>
                          <a:latin typeface="Calibri"/>
                        </a:rPr>
                        <a:t>35,511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0B0B0B"/>
                          </a:solidFill>
                          <a:latin typeface="Calibri"/>
                        </a:rPr>
                        <a:t>39,506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  growth, yoy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61%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B0B0B"/>
                          </a:solidFill>
                          <a:latin typeface="Calibri"/>
                        </a:rPr>
                        <a:t>EBITDA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0B0B0B"/>
                          </a:solidFill>
                          <a:latin typeface="Calibri"/>
                        </a:rPr>
                        <a:t>10,064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0B0B0B"/>
                          </a:solidFill>
                          <a:latin typeface="Calibri"/>
                        </a:rPr>
                        <a:t>12,952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0B0B0B"/>
                          </a:solidFill>
                          <a:latin typeface="Calibri"/>
                        </a:rPr>
                        <a:t>15,942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0B0B0B"/>
                          </a:solidFill>
                          <a:latin typeface="Calibri"/>
                        </a:rPr>
                        <a:t>20,212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0B0B0B"/>
                          </a:solidFill>
                          <a:latin typeface="Calibri"/>
                        </a:rPr>
                        <a:t>23,536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  EBITDA margin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53.2%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48.8%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52.5%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56.9%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59.6%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Interest expense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5,816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6,196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7,510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9,309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10,084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Effective tax rate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-39.3%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25.0%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25.0%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25.0%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25.0%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0B0B0B"/>
                          </a:solidFill>
                          <a:latin typeface="Calibri"/>
                        </a:rPr>
                        <a:t>PAT after minority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0B0B0B"/>
                          </a:solidFill>
                          <a:latin typeface="Calibri"/>
                        </a:rPr>
                        <a:t>2,239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0B0B0B"/>
                          </a:solidFill>
                          <a:latin typeface="Calibri"/>
                        </a:rPr>
                        <a:t>2,823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0B0B0B"/>
                          </a:solidFill>
                          <a:latin typeface="Calibri"/>
                        </a:rPr>
                        <a:t>3,626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0B0B0B"/>
                          </a:solidFill>
                          <a:latin typeface="Calibri"/>
                        </a:rPr>
                        <a:t>4,704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0B0B0B"/>
                          </a:solidFill>
                          <a:latin typeface="Calibri"/>
                        </a:rPr>
                        <a:t>5,791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EPS (Rs.)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12.74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15.40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19.28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25.01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30.78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</a:tr>
              <a:tr h="32419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ROE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7.9%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10.6%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11.8%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2420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ROCE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6.4%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6.3%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7.3%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8.3%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0B0B0B"/>
                          </a:solidFill>
                          <a:latin typeface="Calibri"/>
                        </a:rPr>
                        <a:t>8.8%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ex1_revenue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600200"/>
            <a:ext cx="4206240" cy="26813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440680"/>
            <a:ext cx="6766560" cy="777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>
                <a:solidFill>
                  <a:srgbClr val="0B0B0B"/>
                </a:solidFill>
                <a:latin typeface="Calibri"/>
              </a:rPr>
              <a:t>▪  FY26A's tax charge was NEGATIVE Rs.777cr on positive PBT — deferred tax assets recognised at Utkal and KSK once PPAs were signed. Explained and legitimate, but not repeatable: management guides 23–24% from here. Normalised, FY26A PAT is ~Rs.969cr, not Rs.2,239cr — +15% becomes about –50%.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880"/>
                </a:solidFill>
                <a:latin typeface="Calibri"/>
              </a:rPr>
              <a:t>Source: analyst model.  Strictly Confidential — internal circulation only. Not investment advice.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  <a:latin typeface="Calibri"/>
              </a:rPr>
              <a:t>Cost structure and returns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59536"/>
            <a:ext cx="11057839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B6834"/>
                </a:solidFill>
                <a:latin typeface="Calibri"/>
              </a:rPr>
              <a:t>Margin is mix; cash conversion is not the problem — capex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4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691640"/>
          <a:ext cx="5989316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5436"/>
                <a:gridCol w="830776"/>
                <a:gridCol w="830776"/>
                <a:gridCol w="830776"/>
                <a:gridCol w="830776"/>
                <a:gridCol w="830776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% of revenue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FY26A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FY27E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FY28E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FY29E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FY30E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Fuel cost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29.5%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32.3%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30.0%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27.2%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25.5%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Employee cost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3.9%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4.2%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3.9%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Other expenses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12.9%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14.1%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13.1%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11.9%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11.2%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0B0B"/>
                          </a:solidFill>
                          <a:latin typeface="Calibri"/>
                        </a:rPr>
                        <a:t>EBITDA margin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0B0B0B"/>
                          </a:solidFill>
                          <a:latin typeface="Calibri"/>
                        </a:rPr>
                        <a:t>53.2%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0B0B0B"/>
                          </a:solidFill>
                          <a:latin typeface="Calibri"/>
                        </a:rPr>
                        <a:t>48.8%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0B0B0B"/>
                          </a:solidFill>
                          <a:latin typeface="Calibri"/>
                        </a:rPr>
                        <a:t>52.5%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0B0B0B"/>
                          </a:solidFill>
                          <a:latin typeface="Calibri"/>
                        </a:rPr>
                        <a:t>56.9%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0B0B0B"/>
                          </a:solidFill>
                          <a:latin typeface="Calibri"/>
                        </a:rPr>
                        <a:t>59.6%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3749039"/>
          <a:ext cx="5989318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818"/>
                <a:gridCol w="902500"/>
                <a:gridCol w="902500"/>
                <a:gridCol w="902500"/>
                <a:gridCol w="902500"/>
                <a:gridCol w="902500"/>
              </a:tblGrid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Rs. cr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FY26A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FY27E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FY28E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FY29E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FY30E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Operating cash flow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9,898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12,720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16,319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19,486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21,902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Capex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(10,112)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(21,229)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(21,864)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(21,656)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(24,816)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Free cash flow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(213)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(8,509)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(5,545)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(2,170)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(2,915)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12419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0B0B"/>
                          </a:solidFill>
                          <a:latin typeface="Calibri"/>
                        </a:rPr>
                        <a:t>FCF post interest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0B0B0B"/>
                          </a:solidFill>
                          <a:latin typeface="Calibri"/>
                        </a:rPr>
                        <a:t>(6,169)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0B0B0B"/>
                          </a:solidFill>
                          <a:latin typeface="Calibri"/>
                        </a:rPr>
                        <a:t>(14,705)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0B0B0B"/>
                          </a:solidFill>
                          <a:latin typeface="Calibri"/>
                        </a:rPr>
                        <a:t>(13,055)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0B0B0B"/>
                          </a:solidFill>
                          <a:latin typeface="Calibri"/>
                        </a:rPr>
                        <a:t>(11,478)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0B0B0B"/>
                          </a:solidFill>
                          <a:latin typeface="Calibri"/>
                        </a:rPr>
                        <a:t>(12,999)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</a:tr>
              <a:tr h="312424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Pre-tax OCF/EBITDA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101%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106%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110%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104%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0B0B0B"/>
                          </a:solidFill>
                          <a:latin typeface="Calibri"/>
                        </a:rPr>
                        <a:t>101%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20840" y="1691640"/>
            <a:ext cx="493776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▪  Fuel is the only variable cost.  </a:t>
            </a:r>
            <a:r>
              <a:rPr sz="1250">
                <a:solidFill>
                  <a:srgbClr val="0B0B0B"/>
                </a:solidFill>
                <a:latin typeface="Calibri"/>
              </a:rPr>
              <a:t>Renewables and hydro have none, so the cost base goes from ~63% fixed at the FY26A mix to ~75% fixed by FY30E.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▪  Operating leverage is asymmetric.  </a:t>
            </a:r>
            <a:r>
              <a:rPr sz="1250">
                <a:solidFill>
                  <a:srgbClr val="0B0B0B"/>
                </a:solidFill>
                <a:latin typeface="Calibri"/>
              </a:rPr>
              <a:t>A 10% renewable generation shortfall hits EBITDA almost one-for-one; a 10% thermal shortfall costs about half that.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▪  Cash converts at the EBITDA line.  </a:t>
            </a:r>
            <a:r>
              <a:rPr sz="1250">
                <a:solidFill>
                  <a:srgbClr val="0B0B0B"/>
                </a:solidFill>
                <a:latin typeface="Calibri"/>
              </a:rPr>
              <a:t>Pre-tax OCF/EBITDA of 101–110% through the forecast; debtor days improved from 81 to 57 in FY26A.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▪  It does not convert at the equity line.  </a:t>
            </a:r>
            <a:r>
              <a:rPr sz="1250">
                <a:solidFill>
                  <a:srgbClr val="0B0B0B"/>
                </a:solidFill>
                <a:latin typeface="Calibri"/>
              </a:rPr>
              <a:t>Cumulative FCF after interest of NEGATIVE Rs.53,993cr over FY27E–FY30E. There is no year in the model in which the company self-funds.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880"/>
                </a:solidFill>
                <a:latin typeface="Calibri"/>
              </a:rPr>
              <a:t>Source: analyst model.  Strictly Confidential — internal circulation only. Not investment advice.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  <a:latin typeface="Calibri"/>
              </a:rPr>
              <a:t>Balance sheet and capital allocation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59536"/>
            <a:ext cx="11057839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B6834"/>
                </a:solidFill>
                <a:latin typeface="Calibri"/>
              </a:rPr>
              <a:t>Rs.73,000cr deployed in five years; ROCE went from 7.1% to 6.4%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4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x5_le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035040" cy="36526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691640"/>
            <a:ext cx="493776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▪  The record, FY22A–FY26A.  </a:t>
            </a:r>
            <a:r>
              <a:rPr sz="1250">
                <a:solidFill>
                  <a:srgbClr val="0B0B0B"/>
                </a:solidFill>
                <a:latin typeface="Calibri"/>
              </a:rPr>
              <a:t>Rs.25,007cr of operating cash flow. Spent Rs.31,382cr on capex and Rs.26,537cr acquiring subsidiaries, paid Rs.11,760cr of interest and ~Rs.1,700cr of dividends. Funded with Rs.66,953cr of new debt and Rs.6,069cr of new equity.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▪  The path from here.  </a:t>
            </a:r>
            <a:r>
              <a:rPr sz="1250">
                <a:solidFill>
                  <a:srgbClr val="0B0B0B"/>
                </a:solidFill>
                <a:latin typeface="Calibri"/>
              </a:rPr>
              <a:t>Net debt rises every single year, Rs.70,081cr to Rs.115,314cr. Leverage falls from 7.0x to 4.9x only because EBITDA rises faster. Management's sub-5.0x target is reached in FY29E at the earliest.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▪  The plan is funded.  </a:t>
            </a:r>
            <a:r>
              <a:rPr sz="1250">
                <a:solidFill>
                  <a:srgbClr val="0B0B0B"/>
                </a:solidFill>
                <a:latin typeface="Calibri"/>
              </a:rPr>
              <a:t>Rs.10,150cr raised; Rs.24,184cr of capex is now contractually committed in the audited accounts; reported cost of debt fell 67bp to 8.36%. The CFO says FY27's Rs.20,000cr needs no further equity.</a:t>
            </a:r>
          </a:p>
          <a:p>
            <a:pPr>
              <a:spcAft>
                <a:spcPts val="11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▪  Two flags remain.  </a:t>
            </a:r>
            <a:r>
              <a:rPr sz="1250">
                <a:solidFill>
                  <a:srgbClr val="0B0B0B"/>
                </a:solidFill>
                <a:latin typeface="Calibri"/>
              </a:rPr>
              <a:t>A dividend maintained through four years of large negative free cash flow; and Rs.7,862cr of JSW Steel shares still held while borrowing at 8.36% — a cross-holding that runs both ways, since JSW Steel owns 4.86% of JSW Energy.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880"/>
                </a:solidFill>
                <a:latin typeface="Calibri"/>
              </a:rPr>
              <a:t>Source: analyst model.  Strictly Confidential — internal circulation only. Not investment advice.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  <a:latin typeface="Calibri"/>
              </a:rPr>
              <a:t>The multiple, 2010–2026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59536"/>
            <a:ext cx="11057839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B6834"/>
                </a:solidFill>
                <a:latin typeface="Calibri"/>
              </a:rPr>
              <a:t>EBITDA doubled in FY26A and the multiple compressed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4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x6_ev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949440" cy="36518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43800" y="16459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150" b="1">
                <a:solidFill>
                  <a:srgbClr val="1F3864"/>
                </a:solidFill>
                <a:latin typeface="Calibri"/>
              </a:rPr>
              <a:t>▪  FY11–20.  </a:t>
            </a:r>
            <a:r>
              <a:rPr sz="1150">
                <a:solidFill>
                  <a:srgbClr val="0B0B0B"/>
                </a:solidFill>
                <a:latin typeface="Calibri"/>
              </a:rPr>
              <a:t>Derated 9–11x to 5–6x, trough 3.9x. No new capacity; Vijayanagar PLF 95% → 50%.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1F3864"/>
                </a:solidFill>
                <a:latin typeface="Calibri"/>
              </a:rPr>
              <a:t>▪  FY21–22.  </a:t>
            </a:r>
            <a:r>
              <a:rPr sz="1150">
                <a:solidFill>
                  <a:srgbClr val="0B0B0B"/>
                </a:solidFill>
                <a:latin typeface="Calibri"/>
              </a:rPr>
              <a:t>5.8x to 22.4x. JSW Neo formed, 20GW target announced, leverage at 2.2x — the cleanest balance sheet in a decade.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1F3864"/>
                </a:solidFill>
                <a:latin typeface="Calibri"/>
              </a:rPr>
              <a:t>▪  FY23.  </a:t>
            </a:r>
            <a:r>
              <a:rPr sz="1150">
                <a:solidFill>
                  <a:srgbClr val="0B0B0B"/>
                </a:solidFill>
                <a:latin typeface="Calibri"/>
              </a:rPr>
              <a:t>Back to 10.3x. EBITDA fell 8% on imported coal; leverage jumped to 6.3x on Mytrah.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1F3864"/>
                </a:solidFill>
                <a:latin typeface="Calibri"/>
              </a:rPr>
              <a:t>▪  FY24–25.  </a:t>
            </a:r>
            <a:r>
              <a:rPr sz="1150">
                <a:solidFill>
                  <a:srgbClr val="0B0B0B"/>
                </a:solidFill>
                <a:latin typeface="Calibri"/>
              </a:rPr>
              <a:t>Back to a 20.1x peak on Ind-Barath, KSK and a Rs.4,944cr QIP.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1F3864"/>
                </a:solidFill>
                <a:latin typeface="Calibri"/>
              </a:rPr>
              <a:t>▪  FY26A to date.  </a:t>
            </a:r>
            <a:r>
              <a:rPr sz="1150">
                <a:solidFill>
                  <a:srgbClr val="0B0B0B"/>
                </a:solidFill>
                <a:latin typeface="Calibri"/>
              </a:rPr>
              <a:t>12.0x–14.9x, now 13.9x. EBITDA nearly doubled while the average multiple fell from 16.9x (2024) to 13.2x (2026). The market took the EBITDA and refused to keep paying for it.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1F3864"/>
                </a:solidFill>
                <a:latin typeface="Calibri"/>
              </a:rPr>
              <a:t>▪  Gap.  </a:t>
            </a:r>
            <a:r>
              <a:rPr sz="1150">
                <a:solidFill>
                  <a:srgbClr val="0B0B0B"/>
                </a:solidFill>
                <a:latin typeface="Calibri"/>
              </a:rPr>
              <a:t>A monthly closing-price series is not in the model — the narrative is told through the multiple plus the 52-week range of Rs.428–617.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880"/>
                </a:solidFill>
                <a:latin typeface="Calibri"/>
              </a:rPr>
              <a:t>Source: analyst model.  Strictly Confidential — internal circulation only. Not investment advice.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  <a:latin typeface="Calibri"/>
              </a:rPr>
              <a:t>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59536"/>
            <a:ext cx="11057839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B6834"/>
                </a:solidFill>
                <a:latin typeface="Calibri"/>
              </a:rPr>
              <a:t>Base Rs.625 = 11.9x FY28E EV/EBITDA less FY27E-end net debt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4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691640"/>
          <a:ext cx="7863837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5418"/>
                <a:gridCol w="781785"/>
                <a:gridCol w="1011722"/>
                <a:gridCol w="965734"/>
                <a:gridCol w="1195671"/>
                <a:gridCol w="919747"/>
                <a:gridCol w="873760"/>
              </a:tblGrid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Mult.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Applied to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EBITDA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Equity value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vs CMP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Bear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8.0x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FY28E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15,942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52,497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Rs.286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(49%)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Downside case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10.2x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FY28E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15,942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87,569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Rs.478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(15%)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11.9x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FY28E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15,942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114,671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Rs.625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B0B0B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Bull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11.9x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FY29E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20,212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153,849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Rs.839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16-yr mean multiple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9.0x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FY28E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15,942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68,439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Rs.373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(33%)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3977639"/>
            <a:ext cx="11057839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▪  Sensitivity.  </a:t>
            </a:r>
            <a:r>
              <a:rPr sz="1250">
                <a:solidFill>
                  <a:srgbClr val="0B0B0B"/>
                </a:solidFill>
                <a:latin typeface="Calibri"/>
              </a:rPr>
              <a:t>FY28E EBITDA 10% below forecast → Rs.522, a 7% DOWNSIDE. Margin at 50.0% instead of 52.5% → Rs.576. Mean-reversion to 9.0x → Rs.373.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▪  Minority adjustment.  </a:t>
            </a:r>
            <a:r>
              <a:rPr sz="1250">
                <a:solidFill>
                  <a:srgbClr val="0B0B0B"/>
                </a:solidFill>
                <a:latin typeface="Calibri"/>
              </a:rPr>
              <a:t>The call option on KSK's 26% has been served, so full consolidation is right — but the ~Rs.1,170cr price is not in FY27E net debt. Adjusting takes the base to ~Rs.619, not the ~Rs.582 it would have been without the buyout.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▪  Not credited in the base.  </a:t>
            </a:r>
            <a:r>
              <a:rPr sz="1250">
                <a:solidFill>
                  <a:srgbClr val="0B0B0B"/>
                </a:solidFill>
                <a:latin typeface="Calibri"/>
              </a:rPr>
              <a:t>Residual JSW Steel stake Rs.34/share; Salboni 3,200MW; KSK units 3–6.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▪  The cross-check.  </a:t>
            </a:r>
            <a:r>
              <a:rPr sz="1250">
                <a:solidFill>
                  <a:srgbClr val="0B0B0B"/>
                </a:solidFill>
                <a:latin typeface="Calibri"/>
              </a:rPr>
              <a:t>The model's own asset-based SOTP is Rs.510 — BELOW the market price. The two methods bracket the CMP. That is what fairly valued looks like.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1F3864"/>
                </a:solidFill>
                <a:latin typeface="Calibri"/>
              </a:rPr>
              <a:t>▪  Why no DCF.  </a:t>
            </a:r>
            <a:r>
              <a:rPr sz="1250">
                <a:solidFill>
                  <a:srgbClr val="0B0B0B"/>
                </a:solidFill>
                <a:latin typeface="Calibri"/>
              </a:rPr>
              <a:t>FCFE is negative in four of seven forecast years and the terminal value is negative; the model's DCF returns minus Rs.376 per share. An artefact, not a signal. No weight placed on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880"/>
                </a:solidFill>
                <a:latin typeface="Calibri"/>
              </a:rPr>
              <a:t>Source: analyst model.  Strictly Confidential — internal circulation only. Not investment advice.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  <a:latin typeface="Calibri"/>
              </a:rPr>
              <a:t>Governance and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59536"/>
            <a:ext cx="11057839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B6834"/>
                </a:solidFill>
                <a:latin typeface="Calibri"/>
              </a:rPr>
              <a:t>Clean audit, aligned promoter, one open item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4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691640"/>
          <a:ext cx="11057838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7605"/>
                <a:gridCol w="2846572"/>
                <a:gridCol w="5583661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Comment</a:t>
                      </a:r>
                    </a:p>
                  </a:txBody>
                  <a:tcPr anchor="ctr" marT="12700" marB="12700"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Promoter holding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66.5% (Jun-26) from 69.3% (Sep-24)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Dilution from QIPs, not selling. Rs.625cr of warrants already subscribed at Rs.525; Rs.1,875cr still payable.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Institutional trend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FII 14.9% → 11.4%; DII 9.8% → 16.2%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Foreign investors have sold for two years; domestic institutions absorbed the stock and the QIP.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Concalls / disclosure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Quarterly, granular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Segment and commissioning detail above sector norm.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Related party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Material, quantum unverified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~1,730MW sold to JSW Steel, Cement, Paints; fuel JV with a state entity.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Auditor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Deloitte Haskins &amp; Sells LLP — unmodified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Clean FY26 opinion, no emphasis of matter. One key audit matter: tariff disputes with customers.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Contingent liabilities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~Rs.4,506cr, ~15% of net worth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Claims Rs.2,520cr (down yoy), tariff disputes Rs.340cr, guarantees Rs.605cr, JV share Rs.1,041cr. Not growing.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Promoter pledge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Not disclosed in the AR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Only project-level lender pledges. Still to be checked in the quarterly shareholding filing — the one open item.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Guidance vs delivery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On plan in aggregate, late on projects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B0B0B"/>
                          </a:solidFill>
                          <a:latin typeface="Calibri"/>
                        </a:rPr>
                        <a:t>Kutehr 18 months late; Hetero wind 3 years late; SECI BESS-1 stalled; solar module plant on hold. But 2,579MW did commission in FY26A.</a:t>
                      </a:r>
                    </a:p>
                  </a:txBody>
                  <a:tcPr anchor="ctr" marT="12700" marB="12700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66928" y="5212080"/>
            <a:ext cx="11057839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0B0B0B"/>
                </a:solidFill>
                <a:latin typeface="Calibri"/>
              </a:rPr>
              <a:t>▪  Sajjan Jindal (Chairman &amp; MD) — the key-man and capital-allocation authority. Sharad Mahendra (Joint MD &amp; CEO since Feb-2024). Chandrasekaran Prabhakaran (CFO since 1 Jan 2026, replacing Pritesh Vinay) — a CFO change six months before the sector's largest capital raise, which was then delivered.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B0B0B"/>
                </a:solidFill>
                <a:latin typeface="Calibri"/>
              </a:rPr>
              <a:t>▪  The model's own target of 28.3GW by FY30E is ~6% below the company's stated 30GW — the estimates used here are slightly more conservative than guidance.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880"/>
                </a:solidFill>
                <a:latin typeface="Calibri"/>
              </a:rPr>
              <a:t>Source: analyst model.  Strictly Confidential — internal circulation only. Not investment advice.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  <a:latin typeface="Calibri"/>
              </a:rPr>
              <a:t>Triggers and 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59536"/>
            <a:ext cx="11057839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B6834"/>
                </a:solidFill>
                <a:latin typeface="Calibri"/>
              </a:rPr>
              <a:t>What to watch, and what would break the thesis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4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00200"/>
            <a:ext cx="5577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864"/>
                </a:solidFill>
                <a:latin typeface="Calibri"/>
              </a:rPr>
              <a:t>TRIGGERS — dated and checkable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0B0B0B"/>
                </a:solidFill>
                <a:latin typeface="Calibri"/>
              </a:rPr>
              <a:t>▪  Q2FY27 (Oct-2026): EBITDA must run Rs.3,360cr/quarter for 9 months vs Rs.2,873cr in 1QFY27.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0B0B0B"/>
                </a:solidFill>
                <a:latin typeface="Calibri"/>
              </a:rPr>
              <a:t>▪  Standalone segment revenue: FY27E assumes Rs.6,612cr vs Rs.3,030cr in FY26A and Rs.1,101cr delivered in 1QFY27.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0B0B0B"/>
                </a:solidFill>
                <a:latin typeface="Calibri"/>
              </a:rPr>
              <a:t>▪  KSK minority buyout price — not yet crystallised, expected end-Q2FY27; ~Rs.1,170cr is absent from the model's net debt.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0B0B0B"/>
                </a:solidFill>
                <a:latin typeface="Calibri"/>
              </a:rPr>
              <a:t>▪  First 600MW of KSK units 3-6, mid-FY27 — pure upside, ~Rs.35/share.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0B0B0B"/>
                </a:solidFill>
                <a:latin typeface="Calibri"/>
              </a:rPr>
              <a:t>▪  Rajasthan evacuation line, July 2026 — ends the curtailment that cost Rs.50cr in FY26A.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0B0B0B"/>
                </a:solidFill>
                <a:latin typeface="Calibri"/>
              </a:rPr>
              <a:t>▪  Quarterly MW commissioned — 3,155MW needed in FY27E, 873MW came in Q1.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0B0B0B"/>
                </a:solidFill>
                <a:latin typeface="Calibri"/>
              </a:rPr>
              <a:t>▪  Final DSM regulations — 1.5-2% of RE revenue on management's worst case; substation-level grouping would reduce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60020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B6834"/>
                </a:solidFill>
                <a:latin typeface="Calibri"/>
              </a:rPr>
              <a:t>RISKS — most damaging first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0B0B0B"/>
                </a:solidFill>
                <a:latin typeface="Calibri"/>
              </a:rPr>
              <a:t>▪  Multiple compression. Each 1.0x = Rs.87/share. Mean reversion to 9.0x is Rs.373, a 33% loss with no operational change.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0B0B0B"/>
                </a:solidFill>
                <a:latin typeface="Calibri"/>
              </a:rPr>
              <a:t>▪  Renewable execution slippage. A one-year slip removes Rs.3,000–4,000cr of FY30E EBITDA — over Rs.200/share of target.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0B0B0B"/>
                </a:solidFill>
                <a:latin typeface="Calibri"/>
              </a:rPr>
              <a:t>▪  Funding. De-risked for FY27 (raise complete, cash Rs.12,881cr); unresolved for FY29-30, ~Rs.46,000cr on 2.1x interest cover.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0B0B0B"/>
                </a:solidFill>
                <a:latin typeface="Calibri"/>
              </a:rPr>
              <a:t>▪  Evacuation, not merchant price. Only 9,500 of a planned 15,000 ckm built; eases ~2029. Open capacity is just ~5% of the base.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0B0B0B"/>
                </a:solidFill>
                <a:latin typeface="Calibri"/>
              </a:rPr>
              <a:t>▪  Three items the model omits: the non-repeatable FY26A tax credit, the cost of the KSK minority buyout, and the Supreme Court's 18% Himachal free-power ruling (~287 MU/yr, permanent).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0B0B0B"/>
                </a:solidFill>
                <a:latin typeface="Calibri"/>
              </a:rPr>
              <a:t>▪  Per-MW economics. The model implies Rs.1.02cr/MW of incremental RE EBITDA against management's own Rs.0.75cr/MW steady state — a Rs.3,325cr gap to FY30E.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806440"/>
            <a:ext cx="11057839" cy="658368"/>
          </a:xfrm>
          <a:prstGeom prst="round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250" b="1">
                <a:solidFill>
                  <a:srgbClr val="EB6834"/>
                </a:solidFill>
                <a:latin typeface="Calibri"/>
              </a:rPr>
              <a:t>Falsification test:  </a:t>
            </a:r>
            <a:r>
              <a:rPr sz="1250">
                <a:solidFill>
                  <a:srgbClr val="0B0B0B"/>
                </a:solidFill>
                <a:latin typeface="Calibri"/>
              </a:rPr>
              <a:t>sell if FY27 EBITDA lands below Rs.11,500cr AND net debt/EBITDA is above 6.5x at FY27-end — the build has neither delivered nor been funded. Upgrade to buy if FY27 EBITDA exceeds Rs.13,000cr and leverage closes below 5.5x on the model's all-in measure.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880"/>
                </a:solidFill>
                <a:latin typeface="Calibri"/>
              </a:rPr>
              <a:t>Source: analyst model.  Strictly Confidential — internal circulation only. Not investment advice.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864"/>
                </a:solidFill>
                <a:latin typeface="Calibri"/>
              </a:rPr>
              <a:t>Final outlook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59536"/>
            <a:ext cx="11057839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EB6834"/>
                </a:solidFill>
                <a:latin typeface="Calibri"/>
              </a:rPr>
              <a:t>HOLD  |  Base TP Rs.625  |  +11.4%  |  CMP Rs.561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4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91640"/>
            <a:ext cx="2651760" cy="1280160"/>
          </a:xfrm>
          <a:prstGeom prst="round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/>
            <a:r>
              <a:rPr sz="1100">
                <a:solidFill>
                  <a:srgbClr val="52514E"/>
                </a:solidFill>
                <a:latin typeface="Calibri"/>
              </a:rPr>
              <a:t>Bear  8.0x FY28E</a:t>
            </a:r>
          </a:p>
          <a:p>
            <a:r>
              <a:rPr sz="2600" b="1">
                <a:solidFill>
                  <a:srgbClr val="EB6834"/>
                </a:solidFill>
                <a:latin typeface="Calibri"/>
              </a:rPr>
              <a:t>Rs.286</a:t>
            </a:r>
          </a:p>
          <a:p>
            <a:r>
              <a:rPr sz="1000">
                <a:solidFill>
                  <a:srgbClr val="52514E"/>
                </a:solidFill>
                <a:latin typeface="Calibri"/>
              </a:rPr>
              <a:t>(49%)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01568" y="1691640"/>
            <a:ext cx="2651760" cy="1280160"/>
          </a:xfrm>
          <a:prstGeom prst="round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/>
            <a:r>
              <a:rPr sz="1100">
                <a:solidFill>
                  <a:srgbClr val="52514E"/>
                </a:solidFill>
                <a:latin typeface="Calibri"/>
              </a:rPr>
              <a:t>Base  11.9x FY28E</a:t>
            </a:r>
          </a:p>
          <a:p>
            <a:r>
              <a:rPr sz="2600" b="1">
                <a:solidFill>
                  <a:srgbClr val="1F3864"/>
                </a:solidFill>
                <a:latin typeface="Calibri"/>
              </a:rPr>
              <a:t>Rs.625</a:t>
            </a:r>
          </a:p>
          <a:p>
            <a:r>
              <a:rPr sz="1000">
                <a:solidFill>
                  <a:srgbClr val="52514E"/>
                </a:solidFill>
                <a:latin typeface="Calibri"/>
              </a:rPr>
              <a:t>+11%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6208" y="1691640"/>
            <a:ext cx="2651760" cy="1280160"/>
          </a:xfrm>
          <a:prstGeom prst="round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/>
            <a:r>
              <a:rPr sz="1100">
                <a:solidFill>
                  <a:srgbClr val="52514E"/>
                </a:solidFill>
                <a:latin typeface="Calibri"/>
              </a:rPr>
              <a:t>Bull  11.9x FY29E</a:t>
            </a:r>
          </a:p>
          <a:p>
            <a:r>
              <a:rPr sz="2600" b="1">
                <a:solidFill>
                  <a:srgbClr val="2A78D6"/>
                </a:solidFill>
                <a:latin typeface="Calibri"/>
              </a:rPr>
              <a:t>Rs.839</a:t>
            </a:r>
          </a:p>
          <a:p>
            <a:r>
              <a:rPr sz="1000">
                <a:solidFill>
                  <a:srgbClr val="52514E"/>
                </a:solidFill>
                <a:latin typeface="Calibri"/>
              </a:rPr>
              <a:t>+50%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70848" y="1691640"/>
            <a:ext cx="2651760" cy="1280160"/>
          </a:xfrm>
          <a:prstGeom prst="roundRect">
            <a:avLst/>
          </a:prstGeom>
          <a:solidFill>
            <a:srgbClr val="EE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 rIns="127000" tIns="101600"/>
          <a:lstStyle/>
          <a:p>
            <a:pPr algn="ctr"/>
            <a:r>
              <a:rPr sz="1100">
                <a:solidFill>
                  <a:srgbClr val="52514E"/>
                </a:solidFill>
                <a:latin typeface="Calibri"/>
              </a:rPr>
              <a:t>Model SOTP</a:t>
            </a:r>
          </a:p>
          <a:p>
            <a:r>
              <a:rPr sz="2600" b="1">
                <a:solidFill>
                  <a:srgbClr val="52514E"/>
                </a:solidFill>
                <a:latin typeface="Calibri"/>
              </a:rPr>
              <a:t>Rs.510</a:t>
            </a:r>
          </a:p>
          <a:p>
            <a:r>
              <a:rPr sz="1000">
                <a:solidFill>
                  <a:srgbClr val="52514E"/>
                </a:solidFill>
                <a:latin typeface="Calibri"/>
              </a:rPr>
              <a:t>(9%) — below CMP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154680"/>
            <a:ext cx="11057839" cy="3063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60" b="1">
                <a:solidFill>
                  <a:srgbClr val="1F3864"/>
                </a:solidFill>
                <a:latin typeface="Calibri"/>
              </a:rPr>
              <a:t>▪  The business is genuinely better than it was.  </a:t>
            </a:r>
            <a:r>
              <a:rPr sz="1260">
                <a:solidFill>
                  <a:srgbClr val="0B0B0B"/>
                </a:solidFill>
                <a:latin typeface="Calibri"/>
              </a:rPr>
              <a:t>From 6,605MW to 13,454MW in four years, from a stagnant thermal generator to a company where renewables supply 71% of EBITDA by FY30E, on 25–40 year fixed-tariff PPAs, with an AA rating and a promoter subscribing equity at Rs.525.</a:t>
            </a:r>
          </a:p>
          <a:p>
            <a:pPr>
              <a:spcAft>
                <a:spcPts val="800"/>
              </a:spcAft>
            </a:pPr>
            <a:r>
              <a:rPr sz="1260" b="1">
                <a:solidFill>
                  <a:srgbClr val="1F3864"/>
                </a:solidFill>
                <a:latin typeface="Calibri"/>
              </a:rPr>
              <a:t>▪  The base target requires nothing heroic.  </a:t>
            </a:r>
            <a:r>
              <a:rPr sz="1260">
                <a:solidFill>
                  <a:srgbClr val="0B0B0B"/>
                </a:solidFill>
                <a:latin typeface="Calibri"/>
              </a:rPr>
              <a:t>Only that FY28E EBITDA of Rs.15,942cr is delivered and the market keeps paying roughly what it pays today. No re-rating, no acquisition, and no credit for Salboni, KSK units 3–6 or the Rs.34/share residual JSW Steel stake.</a:t>
            </a:r>
          </a:p>
          <a:p>
            <a:pPr>
              <a:spcAft>
                <a:spcPts val="800"/>
              </a:spcAft>
            </a:pPr>
            <a:r>
              <a:rPr sz="1260" b="1">
                <a:solidFill>
                  <a:srgbClr val="1F3864"/>
                </a:solidFill>
                <a:latin typeface="Calibri"/>
              </a:rPr>
              <a:t>▪  But the risk-reward is not asymmetric.  </a:t>
            </a:r>
            <a:r>
              <a:rPr sz="1260">
                <a:solidFill>
                  <a:srgbClr val="0B0B0B"/>
                </a:solidFill>
                <a:latin typeface="Calibri"/>
              </a:rPr>
              <a:t>11% base upside against 33% downside on a mean-reverting multiple; a 10% EBITDA miss alone flips +11% to –7%; and terminal ROCE of 8.8% is still below the model's own 10% WACC. An asset-based SOTP of Rs.510 and a forward-multiple target of Rs.625 bracket the current price.</a:t>
            </a:r>
          </a:p>
          <a:p>
            <a:pPr>
              <a:spcAft>
                <a:spcPts val="800"/>
              </a:spcAft>
            </a:pPr>
            <a:r>
              <a:rPr sz="1260" b="1">
                <a:solidFill>
                  <a:srgbClr val="1F3864"/>
                </a:solidFill>
                <a:latin typeface="Calibri"/>
              </a:rPr>
              <a:t>▪  What caps position sizing.  </a:t>
            </a:r>
            <a:r>
              <a:rPr sz="1260">
                <a:solidFill>
                  <a:srgbClr val="0B0B0B"/>
                </a:solidFill>
                <a:latin typeface="Calibri"/>
              </a:rPr>
              <a:t>Less than we thought before reading the primary sources — the audit is clean and contingent exposure is ~15% of net worth and not growing. What remains: ~Rs.46,000cr of FY29-30 capex on 2.1x interest cover, the Himachal free-power ruling absent from the forecast, per-MW economics 36% above management's own benchmark, and an unseen promoter pledge position. Buy on evidence — FY27 EBITDA above Rs.13,000cr with leverage under 5.5x — or nearer Rs.480.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37376"/>
            <a:ext cx="110578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8A8880"/>
                </a:solidFill>
                <a:latin typeface="Calibri"/>
              </a:rPr>
              <a:t>Source: analyst model.  Strictly Confidential — internal circulation only.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