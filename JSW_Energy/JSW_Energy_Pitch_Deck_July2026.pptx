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834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JSW ENERGY LIMITED</a:t>
            </a:r>
          </a:p>
          <a:p>
            <a:r>
              <a:rPr sz="2200" i="1">
                <a:solidFill>
                  <a:srgbClr val="AFC8EA"/>
                </a:solidFill>
                <a:latin typeface="Calibri"/>
              </a:rPr>
              <a:t>A thermal balance sheet funding a renewable company</a:t>
            </a:r>
          </a:p>
          <a:p>
            <a:r>
              <a:rPr sz="1400">
                <a:solidFill>
                  <a:srgbClr val="AFC8EA"/>
                </a:solidFill>
                <a:latin typeface="Calibri"/>
              </a:rPr>
              <a:t>Institutional research note  |  July 2026  |  NSE: JSWENERGY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246120"/>
            <a:ext cx="2651760" cy="1298448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Rating</a:t>
            </a:r>
          </a:p>
          <a:p>
            <a:r>
              <a:rPr sz="2600" b="1">
                <a:solidFill>
                  <a:srgbClr val="1F3864"/>
                </a:solidFill>
                <a:latin typeface="Calibri"/>
              </a:rPr>
              <a:t>HOLD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derived from the scenario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3246120"/>
            <a:ext cx="2651760" cy="1298448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CMP (17 Jul 2026)</a:t>
            </a:r>
          </a:p>
          <a:p>
            <a:r>
              <a:rPr sz="2600" b="1">
                <a:solidFill>
                  <a:srgbClr val="0B0B0B"/>
                </a:solidFill>
                <a:latin typeface="Calibri"/>
              </a:rPr>
              <a:t>Rs.561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Mkt cap Rs.98,584cr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3246120"/>
            <a:ext cx="2651760" cy="1298448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Base target price</a:t>
            </a:r>
          </a:p>
          <a:p>
            <a:r>
              <a:rPr sz="2600" b="1">
                <a:solidFill>
                  <a:srgbClr val="1F3864"/>
                </a:solidFill>
                <a:latin typeface="Calibri"/>
              </a:rPr>
              <a:t>Rs.625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11.9x FY28E EV/EBITDA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3246120"/>
            <a:ext cx="2651760" cy="1298448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Upside</a:t>
            </a:r>
          </a:p>
          <a:p>
            <a:r>
              <a:rPr sz="2600" b="1">
                <a:solidFill>
                  <a:srgbClr val="EB6834"/>
                </a:solidFill>
                <a:latin typeface="Calibri"/>
              </a:rPr>
              <a:t>+11.4%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bear Rs.286 / bull Rs.839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800600"/>
            <a:ext cx="110578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B0B0B"/>
                </a:solidFill>
                <a:latin typeface="Calibri"/>
              </a:rPr>
              <a:t>The build is real: 13,454MW at FY26A to 25,905MW by FY30E, EBITDA Rs.10,064cr to Rs.23,536cr. The equity is not. Net debt of Rs.75,038cr at FY27E-end is 4.7x FY28E EBITDA, so the equity is 29% of enterprise value and every 1.0x of EV/EBITDA is worth Rs.87 per share — 15.5% of the price. Reversion to the 16-year mean multiple of 9.0x is Rs.373.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Estimates: attached analyst model, used as given. Market data 17 July 2026.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India's fifth-largest private generator, mid-transformation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▪  What it is.  </a:t>
            </a:r>
            <a:r>
              <a:rPr sz="1550">
                <a:solidFill>
                  <a:srgbClr val="0B0B0B"/>
                </a:solidFill>
                <a:latin typeface="Calibri"/>
              </a:rPr>
              <a:t>5,658MW thermal, 1,631MW hydro and 6,165MW renewables — 13,454MW operational at FY26A, 14,535MW at 30 June 2026, 61% renewable.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▪  How it grew.  </a:t>
            </a:r>
            <a:r>
              <a:rPr sz="1550">
                <a:solidFill>
                  <a:srgbClr val="0B0B0B"/>
                </a:solidFill>
                <a:latin typeface="Calibri"/>
              </a:rPr>
              <a:t>Almost entirely by acquisition: Mytrah (1,753MW, FY23), Ind-Barath (700MW, FY24–25), KSK Mahanadi (1,800MW via NCLT, FY25), O2 Power (4.7GW, Rs.12,468cr EV, FY26). No proprietary technology.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▪  FY26A was the step-change.  </a:t>
            </a:r>
            <a:r>
              <a:rPr sz="1550">
                <a:solidFill>
                  <a:srgbClr val="0B0B0B"/>
                </a:solidFill>
                <a:latin typeface="Calibri"/>
              </a:rPr>
              <a:t>Revenue +61% to Rs.18,901cr, EBITDA +93% to Rs.10,064cr — almost entirely first-time consolidation of KSK and O2. Reported PAT rose only 15%, and only because of a Rs.777cr net tax credit.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▪  What it cost.  </a:t>
            </a:r>
            <a:r>
              <a:rPr sz="1550">
                <a:solidFill>
                  <a:srgbClr val="0B0B0B"/>
                </a:solidFill>
                <a:latin typeface="Calibri"/>
              </a:rPr>
              <a:t>Net debt rose Rs.25,155cr in FY26A alone, to Rs.70,081cr. Leverage 7.0x EBITDA; interest cover 1.70x.</a:t>
            </a:r>
          </a:p>
          <a:p>
            <a:pPr>
              <a:spcAft>
                <a:spcPts val="1300"/>
              </a:spcAft>
            </a:pPr>
            <a:r>
              <a:rPr sz="1550" b="1">
                <a:solidFill>
                  <a:srgbClr val="1F3864"/>
                </a:solidFill>
                <a:latin typeface="Calibri"/>
              </a:rPr>
              <a:t>▪  Where it trades.  </a:t>
            </a:r>
            <a:r>
              <a:rPr sz="1550">
                <a:solidFill>
                  <a:srgbClr val="0B0B0B"/>
                </a:solidFill>
                <a:latin typeface="Calibri"/>
              </a:rPr>
              <a:t>11.2x FY28E EV/EBITDA, 3.2x FY26A book. Its own 12-month forward multiple has averaged 9.0x since 2010 and sits at 13.9x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Corporate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The listed entity produced 18% of FY26A segment EBITDA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7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772400" cy="4127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600200"/>
            <a:ext cx="32004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The listed parent owns three old thermal plants (2,078MW).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The entire renewable build sits two levels down, inside JSW Neo Energy.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KSK Mahanadi — the largest single EBITDA contributor in FY26A at Rs.3,343cr — is only 74% owned.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Capital sinks: 'Others' lost Rs.642cr of EBITDA in FY26A. The 1GW solar module plant is on hold; SECI BESS-1 (500MW) is in dispute with no impairment taken.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Entity-level PAT is not disclosed by the company and is not in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FY25 annual report (AOC-1), Q4FY26 and Q1FY27 filings, analyst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Six business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Every previous growth cycle ended on a lower return on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91640"/>
          <a:ext cx="1105783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154"/>
                <a:gridCol w="1620545"/>
                <a:gridCol w="1334566"/>
                <a:gridCol w="1429892"/>
                <a:gridCol w="1048588"/>
                <a:gridCol w="32410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Revenue (Rs.cr)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EBITDA margin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Net debt/EBITDA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ROCE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1. FY05–08  Captive merchant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491 → 1,574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44% → 74%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2.9x → 1.7x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7% → 29%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Vijayanagar only; peak merchant tariffs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2. FY09–13  First build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1,591 → 8,934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18% → 31%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20.0x → 3.6x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2% → 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Ratnagiri + Barmer; debt to Rs.10,377cr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 FY14–19  Stagnation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8,705 → 9,138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37% → 31%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2.9x → 3.6x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8% → 7%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No new capacity; Vijayanagar PLF 95% → 50%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4. FY20–22  Deleveraging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8,273 → 8,167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36% → 44%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3.3x → 2.2x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9% → 7%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Cleanest balance sheet in a decade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5. FY23–26A  Re-levering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10,332 → 18,901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32% → 53%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6.3x → 7.0x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4% → 6%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Four acquisitions; net debt up 3.4x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6. FY27E–30E  Renewables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26,535 → 39,506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49% → 60%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6.1x → 4.9x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6% → 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12,451MW built; first cycle ROCE rises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92040"/>
            <a:ext cx="110578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▪  ROCE was 29% in FY08, 9% in FY13, 7% in FY22 and 6.4% in FY26A. The model has it reaching 8.8% by FY30E — still below the 10% WACC in the model's own DCF.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Renewables go from 40% of EBITDA to 71% by FY30E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2_segme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766560" cy="394897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691640"/>
          <a:ext cx="41605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693420"/>
                <a:gridCol w="693420"/>
                <a:gridCol w="693420"/>
                <a:gridCol w="69342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Revenue (Rs.cr)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FY25A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FY26A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FY27E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Total Thermal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8,214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13,395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16,788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17,199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Hydro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1,145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1,112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1,707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1,701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Renewables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2,434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4,701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7,133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10,281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Consolidated revenue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11,745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18,901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26,535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30,359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977639"/>
            <a:ext cx="4160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▪  Thermal is fully built — growth is realisation, not volume.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▪  Hydro converted 97% of revenue to EBITDA in FY26A. No new capacity planned.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▪  Renewables converted 85% vs 49% for thermal — the mix is the margin story.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B0B0B"/>
                </a:solidFill>
                <a:latin typeface="Calibri"/>
              </a:rPr>
              <a:t>▪  The model does not carry segment revenue beyond FY28E.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Business model and where the moat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Contracts and cost of capital — not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Contractual.  </a:t>
            </a:r>
            <a:r>
              <a:rPr sz="1500">
                <a:solidFill>
                  <a:srgbClr val="0B0B0B"/>
                </a:solidFill>
                <a:latin typeface="Calibri"/>
              </a:rPr>
              <a:t>25–40 year PPAs with SECI, NTPC, state discoms; a regulated 15% RoE at Barmer; 14% regulated RoE at Jaigad Transco.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Site and connectivity.  </a:t>
            </a:r>
            <a:r>
              <a:rPr sz="1500">
                <a:solidFill>
                  <a:srgbClr val="0B0B0B"/>
                </a:solidFill>
                <a:latin typeface="Calibri"/>
              </a:rPr>
              <a:t>Land at scale and grid evacuation are the binding constraint on Indian renewable build — years to assemble.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Group offtake.  </a:t>
            </a:r>
            <a:r>
              <a:rPr sz="1500">
                <a:solidFill>
                  <a:srgbClr val="0B0B0B"/>
                </a:solidFill>
                <a:latin typeface="Calibri"/>
              </a:rPr>
              <a:t>~1,730MW sold to JSW Steel, Cement and Paints. A sticky customer base and a related-party concentration at the same time.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Cost of capital.  </a:t>
            </a:r>
            <a:r>
              <a:rPr sz="1500">
                <a:solidFill>
                  <a:srgbClr val="0B0B0B"/>
                </a:solidFill>
                <a:latin typeface="Calibri"/>
              </a:rPr>
              <a:t>In a reverse auction everyone buys the same panels. The cheapest funder wins. AA rating helps; 2.3x net debt/equity does not.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What there is not.  </a:t>
            </a:r>
            <a:r>
              <a:rPr sz="1500">
                <a:solidFill>
                  <a:srgbClr val="0B0B0B"/>
                </a:solidFill>
                <a:latin typeface="Calibri"/>
              </a:rPr>
              <a:t>No technology, no IP, no pricing power. This is an assets-and-contracts business.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Capital intensity is the defining feature.  </a:t>
            </a:r>
            <a:r>
              <a:rPr sz="1500">
                <a:solidFill>
                  <a:srgbClr val="0B0B0B"/>
                </a:solidFill>
                <a:latin typeface="Calibri"/>
              </a:rPr>
              <a:t>Rs.88,885cr gross block on Rs.18,901cr revenue — a 0.25x asset turn, falling to 0.24x by FY30E. Rs.70,428cr of cumulative FY27E–FY30E operating cash flow does not cover Rs.89,565cr of capex, let alone Rs.33,098cr of interest.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Capacity and capex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12,451MW to build in four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3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96073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35240" y="1691640"/>
          <a:ext cx="4023356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574765"/>
                <a:gridCol w="574765"/>
                <a:gridCol w="574765"/>
                <a:gridCol w="574765"/>
                <a:gridCol w="57476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FY26A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FY27E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FY29E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FY30E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Capacity (MW)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13,454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16,609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19,996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22,796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25,905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Added in year (MW)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2,579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3,155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3,387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2,800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3,109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Storage (MW)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875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875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2,375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Capex (Rs.cr)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10,112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21,229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21,864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21,656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24,816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Capex per MW (Rs.cr)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7.7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3886200"/>
            <a:ext cx="4023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Kutehr hydro: original CoD Sep-2024, commissioned FY26 — 18 months late.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Hetero wind 125MW: CoD 31-Mar-2023 in the tracker, still under construction.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SECI BESS-1 500MW: LoA Jul-2022, in dispute, no impairment taken.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0B0B0B"/>
                </a:solidFill>
                <a:latin typeface="Calibri"/>
              </a:rPr>
              <a:t>▪  Salboni 1,600MW thermal is under construction but is NOT in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Industry and 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Fast supply, slow demand — the tension in the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Where India is.  </a:t>
            </a:r>
            <a:r>
              <a:rPr sz="1500">
                <a:solidFill>
                  <a:srgbClr val="0B0B0B"/>
                </a:solidFill>
                <a:latin typeface="Calibri"/>
              </a:rPr>
              <a:t>533GW installed at Mar-2026; 283.5GW non-fossil (53%), including 274.7GW renewables. JSW Energy is ~2.7% of national capacity.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Visible now — renewable share gain.  </a:t>
            </a:r>
            <a:r>
              <a:rPr sz="1500">
                <a:solidFill>
                  <a:srgbClr val="0B0B0B"/>
                </a:solidFill>
                <a:latin typeface="Calibri"/>
              </a:rPr>
              <a:t>Solar generation +24% and wind +11% year-on-year in Q4FY26, against total generation growth of just 3%.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Visible now — the policy mandate.  </a:t>
            </a:r>
            <a:r>
              <a:rPr sz="1500">
                <a:solidFill>
                  <a:srgbClr val="0B0B0B"/>
                </a:solidFill>
                <a:latin typeface="Calibri"/>
              </a:rPr>
              <a:t>500GW of non-fossil by 2030 requires ~54GW of additions a year. The SECI/NTPC/state tender pipeline is the mechanism.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Prospective — the storage premium.  </a:t>
            </a:r>
            <a:r>
              <a:rPr sz="1500">
                <a:solidFill>
                  <a:srgbClr val="0B0B0B"/>
                </a:solidFill>
                <a:latin typeface="Calibri"/>
              </a:rPr>
              <a:t>FDRE, hybrid and RTC tenders price above plain solar. JSW moves from 451MW of hybrid to 4,798MW plus 3,000MW BESS and 3,300MW of pumped storage.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 The tension.  </a:t>
            </a:r>
            <a:r>
              <a:rPr sz="1500">
                <a:solidFill>
                  <a:srgbClr val="0B0B0B"/>
                </a:solidFill>
                <a:latin typeface="Calibri"/>
              </a:rPr>
              <a:t>Q4FY26 generation growth of 3% was the slowest in six years while renewable capacity kept compounding. Flat demand plus fast supply is the classic setup for curtailment and merchant tariff compression.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CEA / MNRE / PIB releases and press reports, July 2026; analyst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Competitive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Cheap capital is the moat — and it is getting more 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37360"/>
          <a:ext cx="1105783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1796898"/>
                <a:gridCol w="1520452"/>
                <a:gridCol w="5528919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Peer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Comment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JSW Energy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11.2x FY28E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44.0x FY26A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B0B0B"/>
                          </a:solidFill>
                          <a:latin typeface="Calibri"/>
                        </a:rPr>
                        <a:t>13.5GW; 2.3x net debt/equity; ROCE 6.4%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NTPC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~11.0x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~12.8x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~80GW+, sovereign, regulated RoE — the floor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Tata Power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~13.8x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~33.4x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Closest structural comparable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Adani Power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~24.4x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Largest listed private thermal by mkt cap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Adani Green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&gt;17x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&gt;50x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B0B0B"/>
                          </a:solidFill>
                          <a:latin typeface="Calibri"/>
                        </a:rPr>
                        <a:t>Pure-play RE — the implicit SOTP anchor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14800"/>
            <a:ext cx="110578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▪  JSW's ROCE averaged 5.4% over FY23A–FY26A. NTPC on a regulated base and Tata Power on an integrated model both run materially higher.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▪  A 60% EBITDA margin on a 0.24x asset turn is how a business looks highly profitable on the income statement and mediocre on capital.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▪  Peer multiples are trailing secondary-source figures, not reconciled to audited accounts. Like-for-like peer growth, margin and ROCE were not obtainable — a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The market is right about the EBITDA and wrong about who owns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5783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Variant perception.  </a:t>
            </a:r>
            <a:r>
              <a:rPr sz="1450">
                <a:solidFill>
                  <a:srgbClr val="0B0B0B"/>
                </a:solidFill>
                <a:latin typeface="Calibri"/>
              </a:rPr>
              <a:t>The market treats JSW Energy as a renewable compounder deserving a growth multiple. The EBITDA does more than double. But 92% of that growth is debt-funded renewable capacity, and the equity is 29% of enterprise value — so the price is a geared bet on the exit multiple.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1. The build is real and checkable.  </a:t>
            </a:r>
            <a:r>
              <a:rPr sz="1450">
                <a:solidFill>
                  <a:srgbClr val="0B0B0B"/>
                </a:solidFill>
                <a:latin typeface="Calibri"/>
              </a:rPr>
              <a:t>13,454MW to 25,905MW; EBITDA Rs.10,064cr to Rs.23,536cr, a 24% CAGR. 2,579MW came in FY26A, 1,081MW since April 2026 against a 3,155MW FY27E requirement.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2. The margin expansion is mechanical.  </a:t>
            </a:r>
            <a:r>
              <a:rPr sz="1450">
                <a:solidFill>
                  <a:srgbClr val="0B0B0B"/>
                </a:solidFill>
                <a:latin typeface="Calibri"/>
              </a:rPr>
              <a:t>Renewables convert 85% of revenue to EBITDA vs 49% for thermal. Consolidated margin 53.2% → 59.6% on mix alone. Fuel falls from 29.5% of revenue to 25.5%.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3. But the equity is a thin, geared claim.  </a:t>
            </a:r>
            <a:r>
              <a:rPr sz="1450">
                <a:solidFill>
                  <a:srgbClr val="0B0B0B"/>
                </a:solidFill>
                <a:latin typeface="Calibri"/>
              </a:rPr>
              <a:t>Net debt Rs.75,038cr at FY27E-end = 4.7x FY28E EBITDA. Each 1.0x of multiple = Rs.87/share = 15.5% of the price. 9.0x gives Rs.373; 11.9x gives Rs.625.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3864"/>
                </a:solidFill>
                <a:latin typeface="Calibri"/>
              </a:rPr>
              <a:t>▪  4. And returns still do not clear the cost of capital.  </a:t>
            </a:r>
            <a:r>
              <a:rPr sz="1450">
                <a:solidFill>
                  <a:srgbClr val="0B0B0B"/>
                </a:solidFill>
                <a:latin typeface="Calibri"/>
              </a:rPr>
              <a:t>ROCE 6.4% FY26A → 8.8% FY30E, against the 10% WACC in the model's own DCF.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FY26A doubled EBITDA; PAT grew 15% and only on a tax credit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91640"/>
          <a:ext cx="6766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560"/>
                <a:gridCol w="939800"/>
                <a:gridCol w="939800"/>
                <a:gridCol w="939800"/>
                <a:gridCol w="939800"/>
                <a:gridCol w="939800"/>
              </a:tblGrid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Rs. cr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FY26A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FY27E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FY29E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FY30E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18,901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26,535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30,359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35,511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39,506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  growth, yoy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10,064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12,952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15,942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20,212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23,536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  EBITDA margin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53.2%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48.8%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52.5%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56.9%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59.6%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Interest expense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5,816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6,196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7,510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9,309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10,084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Effective tax rate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-39.3%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PAT after minority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2,239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2,823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3,626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4,704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0B0B0B"/>
                          </a:solidFill>
                          <a:latin typeface="Calibri"/>
                        </a:rPr>
                        <a:t>5,791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EPS (Rs.)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12.74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15.40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19.28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25.01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30.78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ROE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10.6%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24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ROCE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0B0B0B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ex1_revenue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00200"/>
            <a:ext cx="4206240" cy="2681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440680"/>
            <a:ext cx="67665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0B0B0B"/>
                </a:solidFill>
                <a:latin typeface="Calibri"/>
              </a:rPr>
              <a:t>▪  FY26A's tax charge was NEGATIVE Rs.777cr on positive PBT. At the 25% rate the model uses from FY27E, FY26A PAT would be ~Rs.969cr, not Rs.2,239cr — reported earnings growth of +15% becomes about –50%.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Cost structure and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Margin is mix; cash conversion is not the problem — capex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91640"/>
          <a:ext cx="5989316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436"/>
                <a:gridCol w="830776"/>
                <a:gridCol w="830776"/>
                <a:gridCol w="830776"/>
                <a:gridCol w="830776"/>
                <a:gridCol w="830776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% of revenue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FY26A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FY27E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FY29E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FY30E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Fuel cost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29.5%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32.3%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27.2%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25.5%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Employee cost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Other expenses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12.9%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14.1%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EBITDA margin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53.2%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48.8%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52.5%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56.9%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59.6%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749039"/>
          <a:ext cx="598931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818"/>
                <a:gridCol w="902500"/>
                <a:gridCol w="902500"/>
                <a:gridCol w="902500"/>
                <a:gridCol w="902500"/>
                <a:gridCol w="902500"/>
              </a:tblGrid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Rs. cr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FY26A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FY27E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FY29E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FY30E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Operating cash flow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9,898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12,720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16,319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19,486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21,902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Capex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(10,112)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(21,229)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(21,864)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(21,656)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(24,816)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(213)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(8,509)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(5,545)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(2,170)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(2,915)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FCF post interest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(6,169)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(14,705)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(13,055)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(11,478)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(12,999)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124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Pre-tax OCF/EBITDA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106%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110%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104%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B0B0B"/>
                          </a:solidFill>
                          <a:latin typeface="Calibri"/>
                        </a:rPr>
                        <a:t>101%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20840" y="1691640"/>
            <a:ext cx="49377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Fuel is the only variable cost.  </a:t>
            </a:r>
            <a:r>
              <a:rPr sz="1250">
                <a:solidFill>
                  <a:srgbClr val="0B0B0B"/>
                </a:solidFill>
                <a:latin typeface="Calibri"/>
              </a:rPr>
              <a:t>Renewables and hydro have none, so the cost base goes from ~63% fixed at the FY26A mix to ~75% fixed by FY30E.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Operating leverage is asymmetric.  </a:t>
            </a:r>
            <a:r>
              <a:rPr sz="1250">
                <a:solidFill>
                  <a:srgbClr val="0B0B0B"/>
                </a:solidFill>
                <a:latin typeface="Calibri"/>
              </a:rPr>
              <a:t>A 10% renewable generation shortfall hits EBITDA almost one-for-one; a 10% thermal shortfall costs about half that.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Cash converts at the EBITDA line.  </a:t>
            </a:r>
            <a:r>
              <a:rPr sz="1250">
                <a:solidFill>
                  <a:srgbClr val="0B0B0B"/>
                </a:solidFill>
                <a:latin typeface="Calibri"/>
              </a:rPr>
              <a:t>Pre-tax OCF/EBITDA of 101–110% through the forecast; debtor days improved from 81 to 57 in FY26A.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It does not convert at the equity line.  </a:t>
            </a:r>
            <a:r>
              <a:rPr sz="1250">
                <a:solidFill>
                  <a:srgbClr val="0B0B0B"/>
                </a:solidFill>
                <a:latin typeface="Calibri"/>
              </a:rPr>
              <a:t>Cumulative FCF after interest of NEGATIVE Rs.53,993cr over FY27E–FY30E. There is no year in the model in which the company self-funds.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Balance sheet and capital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Rs.73,000cr deployed in five years; ROCE went from 7.1% to 6.4%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5_le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035040" cy="3652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691640"/>
            <a:ext cx="49377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The record, FY22A–FY26A.  </a:t>
            </a:r>
            <a:r>
              <a:rPr sz="1250">
                <a:solidFill>
                  <a:srgbClr val="0B0B0B"/>
                </a:solidFill>
                <a:latin typeface="Calibri"/>
              </a:rPr>
              <a:t>Rs.25,007cr of operating cash flow. Spent Rs.31,382cr on capex and Rs.26,537cr acquiring subsidiaries, paid Rs.11,760cr of interest and ~Rs.1,700cr of dividends. Funded with Rs.66,953cr of new debt and Rs.6,069cr of new equity.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The path from here.  </a:t>
            </a:r>
            <a:r>
              <a:rPr sz="1250">
                <a:solidFill>
                  <a:srgbClr val="0B0B0B"/>
                </a:solidFill>
                <a:latin typeface="Calibri"/>
              </a:rPr>
              <a:t>Net debt rises every single year, Rs.70,081cr to Rs.115,314cr. Leverage falls from 7.0x to 4.9x only because EBITDA rises faster. Management's sub-5.0x target is reached in FY29E at the earliest.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Two flags.  </a:t>
            </a:r>
            <a:r>
              <a:rPr sz="1250">
                <a:solidFill>
                  <a:srgbClr val="0B0B0B"/>
                </a:solidFill>
                <a:latin typeface="Calibri"/>
              </a:rPr>
              <a:t>A dividend maintained through four years of large negative free cash flow; and Rs.8,265cr of idle JSW Steel shares held while borrowing at an implied 8–9%. The model assumes Rs.2,887cr of that is sold in FY27E — we could not verify the disposal has been announced.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The multiple, 2010–2026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EBITDA doubled in FY26A and the multiple compressed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6_ev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949440" cy="3651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FY11–20.  </a:t>
            </a:r>
            <a:r>
              <a:rPr sz="1150">
                <a:solidFill>
                  <a:srgbClr val="0B0B0B"/>
                </a:solidFill>
                <a:latin typeface="Calibri"/>
              </a:rPr>
              <a:t>Derated 9–11x to 5–6x, trough 3.9x. No new capacity; Vijayanagar PLF 95% → 50%.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FY21–22.  </a:t>
            </a:r>
            <a:r>
              <a:rPr sz="1150">
                <a:solidFill>
                  <a:srgbClr val="0B0B0B"/>
                </a:solidFill>
                <a:latin typeface="Calibri"/>
              </a:rPr>
              <a:t>5.8x to 22.4x. JSW Neo formed, 20GW target announced, leverage at 2.2x — the cleanest balance sheet in a decade.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FY23.  </a:t>
            </a:r>
            <a:r>
              <a:rPr sz="1150">
                <a:solidFill>
                  <a:srgbClr val="0B0B0B"/>
                </a:solidFill>
                <a:latin typeface="Calibri"/>
              </a:rPr>
              <a:t>Back to 10.3x. EBITDA fell 8% on imported coal; leverage jumped to 6.3x on Mytrah.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FY24–25.  </a:t>
            </a:r>
            <a:r>
              <a:rPr sz="1150">
                <a:solidFill>
                  <a:srgbClr val="0B0B0B"/>
                </a:solidFill>
                <a:latin typeface="Calibri"/>
              </a:rPr>
              <a:t>Back to a 20.1x peak on Ind-Barath, KSK and a Rs.4,944cr QIP.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FY26A to date.  </a:t>
            </a:r>
            <a:r>
              <a:rPr sz="1150">
                <a:solidFill>
                  <a:srgbClr val="0B0B0B"/>
                </a:solidFill>
                <a:latin typeface="Calibri"/>
              </a:rPr>
              <a:t>12.0x–14.9x, now 13.9x. EBITDA nearly doubled while the average multiple fell from 16.9x (2024) to 13.2x (2026). The market took the EBITDA and refused to keep paying for it.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▪  Gap.  </a:t>
            </a:r>
            <a:r>
              <a:rPr sz="1150">
                <a:solidFill>
                  <a:srgbClr val="0B0B0B"/>
                </a:solidFill>
                <a:latin typeface="Calibri"/>
              </a:rPr>
              <a:t>A monthly closing-price series is not in the model — the narrative is told through the multiple plus the 52-week range of Rs.428–617.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Base Rs.625 = 11.9x FY28E EV/EBITDA less FY27E-end net debt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91640"/>
          <a:ext cx="786383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418"/>
                <a:gridCol w="781785"/>
                <a:gridCol w="1011722"/>
                <a:gridCol w="965734"/>
                <a:gridCol w="1195671"/>
                <a:gridCol w="919747"/>
                <a:gridCol w="87376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Mult.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Applied to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Equity value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 CMP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8.0x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15,942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52,497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Rs.286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(49%)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Downside case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10.2x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15,942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87,569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Rs.478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(15%)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11.9x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15,942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114,671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Rs.625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11.9x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FY29E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20,212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153,849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Rs.839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16-yr mean multiple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9.0x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FY28E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15,942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68,439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Rs.373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(33%)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77639"/>
            <a:ext cx="11057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Sensitivity.  </a:t>
            </a:r>
            <a:r>
              <a:rPr sz="1250">
                <a:solidFill>
                  <a:srgbClr val="0B0B0B"/>
                </a:solidFill>
                <a:latin typeface="Calibri"/>
              </a:rPr>
              <a:t>FY28E EBITDA 10% below forecast → Rs.522, a 7% DOWNSIDE. Margin at 50.0% instead of 52.5% → Rs.576. Mean-reversion to 9.0x → Rs.373.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Minority adjustment.  </a:t>
            </a:r>
            <a:r>
              <a:rPr sz="1250">
                <a:solidFill>
                  <a:srgbClr val="0B0B0B"/>
                </a:solidFill>
                <a:latin typeface="Calibri"/>
              </a:rPr>
              <a:t>EV/EBITDA values 100% of KSK but the parent owns 74%. Deducting the minority share of FY28E KSK EBITDA at 11.9x removes Rs.43 per share — an adjusted base of ~Rs.582, under 4% upside.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Not credited in the base.  </a:t>
            </a:r>
            <a:r>
              <a:rPr sz="1250">
                <a:solidFill>
                  <a:srgbClr val="0B0B0B"/>
                </a:solidFill>
                <a:latin typeface="Calibri"/>
              </a:rPr>
              <a:t>JSW Steel stake Rs.36/share; Salboni 1,600MW; KSK units 3–6.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The cross-check.  </a:t>
            </a:r>
            <a:r>
              <a:rPr sz="1250">
                <a:solidFill>
                  <a:srgbClr val="0B0B0B"/>
                </a:solidFill>
                <a:latin typeface="Calibri"/>
              </a:rPr>
              <a:t>The model's own asset-based SOTP is Rs.510 — BELOW the market price. The two methods bracket the CMP. That is what fairly valued looks like.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▪  Why no DCF.  </a:t>
            </a:r>
            <a:r>
              <a:rPr sz="1250">
                <a:solidFill>
                  <a:srgbClr val="0B0B0B"/>
                </a:solidFill>
                <a:latin typeface="Calibri"/>
              </a:rPr>
              <a:t>FCFE is negative in four of seven forecast years and the terminal value is negative; the model's DCF returns minus Rs.376 per share. An artefact, not a signal. No weight placed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Governance and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Good disclosure, aligned promoter, unverified tail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691640"/>
          <a:ext cx="110578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7605"/>
                <a:gridCol w="2846572"/>
                <a:gridCol w="5583661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Comment</a:t>
                      </a:r>
                    </a:p>
                  </a:txBody>
                  <a:tcPr anchor="ctr" marT="12700" marB="12700">
                    <a:solidFill>
                      <a:srgbClr val="1F386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Promoter holding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66.5% (Jun-26) from 69.3% (Sep-24)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Dilution from QIPs, not selling. Rs.625cr of warrants already subscribed at Rs.525; Rs.1,875cr still payable.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Institutional trend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FII 14.9% → 11.4%; DII 9.8% → 16.2%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Foreign investors have sold for two years; domestic institutions absorbed the stock and the QIP.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Concalls / disclosure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Quarterly, granular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Segment and commissioning detail above sector norm.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Related party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Material, quantum unverified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~1,730MW sold to JSW Steel, Cement, Paints; fuel JV with a state entity.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Pledge / auditor / board / litigation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NOT VERIFIED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Could not be confirmed for this note. Read the FY26 AR notes before sizing a position.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Guidance vs delivery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On plan in aggregate, late on projects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Kutehr 18 months late; Hetero wind 3 years late; SECI BESS-1 stalled; solar module plant on hold. But 2,579MW did commission in FY26A.</a:t>
                      </a:r>
                    </a:p>
                  </a:txBody>
                  <a:tcPr anchor="ctr" marT="12700" marB="1270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212080"/>
            <a:ext cx="1105783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▪  Sajjan Jindal (Chairman &amp; MD) — the key-man and capital-allocation authority. Sharad Mahendra (Joint MD &amp; CEO since Feb-2024). Pritesh Vinay (Director Finance &amp; CFO).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B0B0B"/>
                </a:solidFill>
                <a:latin typeface="Calibri"/>
              </a:rPr>
              <a:t>▪  The model's own target of 28.3GW by FY30E is ~6% below the company's stated 30GW — the estimates used here are slightly more conservative than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Triggers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What to watch, and what would break 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Calibri"/>
              </a:rPr>
              <a:t>TRIGGERS — dated and checkable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Q2FY27 (Oct-2026): EBITDA must run Rs.3,360cr/quarter for 9 months vs Rs.2,873cr in 1QFY27.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Standalone segment revenue: FY27E assumes Rs.6,612cr vs Rs.3,030cr in FY26A and Rs.1,101cr delivered in 1QFY27.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QIP completion and price — Rs.4,000cr at Rs.525 is already in the share count.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Promoter warrant conversion — Rs.1,875cr still payable at Rs.525.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Quarterly MW commissioned — 3,155MW needed in FY27E, 873MW came in Q1.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JSW Steel stake sale — Rs.2,887cr is booked in FY27E.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6002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B6834"/>
                </a:solidFill>
                <a:latin typeface="Calibri"/>
              </a:rPr>
              <a:t>RISKS — most damaging first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Multiple compression. Each 1.0x = Rs.87/share. Mean reversion to 9.0x is Rs.373, a 33% loss with no operational change.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Renewable execution slippage. A one-year slip removes Rs.3,000–4,000cr of FY30E EBITDA — over Rs.200/share of target.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Funding. Rs.53,993cr of negative post-interest FCF; needs Rs.40,532cr of new debt on 1.7–2.2x interest cover.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Merchant and curtailment. 700MW at Ind-Barath has no PPA; supply is growing faster than demand.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Earnings quality. FY26A's tax credit, and minority interest modelled to fall from Rs.523cr to Rs.24cr — worth 18% of FY28E EPS.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0B0B0B"/>
                </a:solidFill>
                <a:latin typeface="Calibri"/>
              </a:rPr>
              <a:t>▪  Analytical risk. Contingent liabilities, litigation, auditor opinion, pledge and RPT quantum are all unverified.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806440"/>
            <a:ext cx="11057839" cy="658368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1250" b="1">
                <a:solidFill>
                  <a:srgbClr val="EB6834"/>
                </a:solidFill>
                <a:latin typeface="Calibri"/>
              </a:rPr>
              <a:t>Falsification test:  </a:t>
            </a:r>
            <a:r>
              <a:rPr sz="1250">
                <a:solidFill>
                  <a:srgbClr val="0B0B0B"/>
                </a:solidFill>
                <a:latin typeface="Calibri"/>
              </a:rPr>
              <a:t>sell if FY27 EBITDA lands below Rs.11,500cr AND net debt/EBITDA is above 6.5x at FY27-end — the build has neither delivered nor been funded. Upgrade to buy if FY27 EBITDA exceeds Rs.13,000cr, leverage closes below 5.5x and the QIP prices at or above Rs.525.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Calibri"/>
              </a:rPr>
              <a:t>Final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9536"/>
            <a:ext cx="11057839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B6834"/>
                </a:solidFill>
                <a:latin typeface="Calibri"/>
              </a:rPr>
              <a:t>HOLD  |  Base TP Rs.625  |  +11.4%  |  CMP Rs.561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4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2651760" cy="1280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Bear  8.0x FY28E</a:t>
            </a:r>
          </a:p>
          <a:p>
            <a:r>
              <a:rPr sz="2600" b="1">
                <a:solidFill>
                  <a:srgbClr val="EB6834"/>
                </a:solidFill>
                <a:latin typeface="Calibri"/>
              </a:rPr>
              <a:t>Rs.286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(49%)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651760" cy="1280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Base  11.9x FY28E</a:t>
            </a:r>
          </a:p>
          <a:p>
            <a:r>
              <a:rPr sz="2600" b="1">
                <a:solidFill>
                  <a:srgbClr val="1F3864"/>
                </a:solidFill>
                <a:latin typeface="Calibri"/>
              </a:rPr>
              <a:t>Rs.625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+11%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91640"/>
            <a:ext cx="2651760" cy="1280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Bull  11.9x FY29E</a:t>
            </a:r>
          </a:p>
          <a:p>
            <a:r>
              <a:rPr sz="2600" b="1">
                <a:solidFill>
                  <a:srgbClr val="2A78D6"/>
                </a:solidFill>
                <a:latin typeface="Calibri"/>
              </a:rPr>
              <a:t>Rs.839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+50%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0848" y="1691640"/>
            <a:ext cx="2651760" cy="1280160"/>
          </a:xfrm>
          <a:prstGeom prst="round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/>
          <a:lstStyle/>
          <a:p>
            <a:pPr algn="ctr"/>
            <a:r>
              <a:rPr sz="1100">
                <a:solidFill>
                  <a:srgbClr val="52514E"/>
                </a:solidFill>
                <a:latin typeface="Calibri"/>
              </a:rPr>
              <a:t>Model SOTP</a:t>
            </a:r>
          </a:p>
          <a:p>
            <a:r>
              <a:rPr sz="2600" b="1">
                <a:solidFill>
                  <a:srgbClr val="52514E"/>
                </a:solidFill>
                <a:latin typeface="Calibri"/>
              </a:rPr>
              <a:t>Rs.510</a:t>
            </a:r>
          </a:p>
          <a:p>
            <a:r>
              <a:rPr sz="1000">
                <a:solidFill>
                  <a:srgbClr val="52514E"/>
                </a:solidFill>
                <a:latin typeface="Calibri"/>
              </a:rPr>
              <a:t>(9%) — below CMP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1105783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The business is genuinely better than it was.  </a:t>
            </a:r>
            <a:r>
              <a:rPr sz="1350">
                <a:solidFill>
                  <a:srgbClr val="0B0B0B"/>
                </a:solidFill>
                <a:latin typeface="Calibri"/>
              </a:rPr>
              <a:t>From 6,605MW to 13,454MW in four years, from a stagnant thermal generator to a company where renewables supply 71% of EBITDA by FY30E, on 25–40 year fixed-tariff PPAs, with an AA rating and a promoter subscribing equity at Rs.525.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The base target requires nothing heroic.  </a:t>
            </a:r>
            <a:r>
              <a:rPr sz="1350">
                <a:solidFill>
                  <a:srgbClr val="0B0B0B"/>
                </a:solidFill>
                <a:latin typeface="Calibri"/>
              </a:rPr>
              <a:t>Only that FY28E EBITDA of Rs.15,942cr is delivered and the market keeps paying roughly what it pays today. No re-rating, no acquisition, and no credit for Salboni, KSK units 3–6 or the Rs.36/share JSW Steel stake.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But the risk-reward is not asymmetric.  </a:t>
            </a:r>
            <a:r>
              <a:rPr sz="1350">
                <a:solidFill>
                  <a:srgbClr val="0B0B0B"/>
                </a:solidFill>
                <a:latin typeface="Calibri"/>
              </a:rPr>
              <a:t>11% base upside against 33% downside on a mean-reverting multiple; a 10% EBITDA miss alone flips +11% to –7%; and terminal ROCE of 8.8% is still below the model's own 10% WACC. An asset-based SOTP of Rs.510 and a forward-multiple target of Rs.625 bracket the current price.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3864"/>
                </a:solidFill>
                <a:latin typeface="Calibri"/>
              </a:rPr>
              <a:t>▪  What caps position sizing.  </a:t>
            </a:r>
            <a:r>
              <a:rPr sz="1350">
                <a:solidFill>
                  <a:srgbClr val="0B0B0B"/>
                </a:solidFill>
                <a:latin typeface="Calibri"/>
              </a:rPr>
              <a:t>Unverified contingent liabilities, litigation, auditor commentary, pledge and RPT quantum, inside a promoter-controlled structure where 26% of the best asset already belongs to someone else. Buy on evidence — FY27 EBITDA above Rs.13,000cr with leverage under 5.5x — or nearer Rs.480.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1057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880"/>
                </a:solidFill>
                <a:latin typeface="Calibri"/>
              </a:rPr>
              <a:t>Source: analyst model.  Strictly Confidential — internal circulation only.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